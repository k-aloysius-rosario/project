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7" r:id="rId4"/>
    <p:sldId id="268" r:id="rId5"/>
    <p:sldId id="257" r:id="rId6"/>
    <p:sldId id="258" r:id="rId7"/>
    <p:sldId id="259" r:id="rId8"/>
    <p:sldId id="260" r:id="rId9"/>
    <p:sldId id="261" r:id="rId10"/>
    <p:sldId id="262" r:id="rId11"/>
    <p:sldId id="269" r:id="rId12"/>
    <p:sldId id="272" r:id="rId13"/>
    <p:sldId id="270" r:id="rId14"/>
    <p:sldId id="271" r:id="rId15"/>
    <p:sldId id="273" r:id="rId16"/>
    <p:sldId id="274" r:id="rId17"/>
    <p:sldId id="266" r:id="rId18"/>
    <p:sldId id="263"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59"/>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5100"/>
            <a:ext cx="9144000" cy="1979930"/>
          </a:xfrm>
        </p:spPr>
        <p:txBody>
          <a:bodyPr>
            <a:normAutofit/>
          </a:bodyPr>
          <a:lstStyle/>
          <a:p>
            <a:r>
              <a:rPr lang="en-US" altLang="en-US" sz="4500" dirty="0">
                <a:solidFill>
                  <a:schemeClr val="tx1"/>
                </a:solidFill>
                <a:latin typeface="Times New Roman" panose="02020603050405020304" pitchFamily="18" charset="0"/>
                <a:cs typeface="Times New Roman" panose="02020603050405020304" pitchFamily="18" charset="0"/>
              </a:rPr>
              <a:t>Secure Network Messenger Using ssh for Improved Anonymity</a:t>
            </a:r>
            <a:br>
              <a:rPr lang="en-US" altLang="en-US" dirty="0">
                <a:solidFill>
                  <a:schemeClr val="tx1"/>
                </a:solidFill>
              </a:rPr>
            </a:br>
            <a:r>
              <a:rPr lang="en-US" altLang="en-US" sz="2665" b="1" dirty="0">
                <a:solidFill>
                  <a:schemeClr val="tx1"/>
                </a:solidFill>
                <a:latin typeface="Times New Roman" panose="02020603050405020304" pitchFamily="18" charset="0"/>
                <a:cs typeface="Times New Roman" panose="02020603050405020304" pitchFamily="18" charset="0"/>
              </a:rPr>
              <a:t>Project Review-1</a:t>
            </a:r>
            <a:r>
              <a:rPr lang="en-US" altLang="en-US" sz="2665" dirty="0">
                <a:solidFill>
                  <a:schemeClr val="tx1"/>
                </a:solidFill>
                <a:latin typeface="Times New Roman" panose="02020603050405020304" pitchFamily="18" charset="0"/>
                <a:cs typeface="Times New Roman" panose="02020603050405020304" pitchFamily="18" charset="0"/>
              </a:rPr>
              <a:t> </a:t>
            </a:r>
            <a:endParaRPr lang="en-US" altLang="en-US" sz="2665" dirty="0">
              <a:solidFill>
                <a:schemeClr val="tx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0" y="1814195"/>
            <a:ext cx="9144000" cy="4246880"/>
          </a:xfrm>
        </p:spPr>
        <p:txBody>
          <a:bodyPr>
            <a:noAutofit/>
          </a:bodyPr>
          <a:lstStyle/>
          <a:p>
            <a:r>
              <a:rPr lang="en-US" altLang="en-US" sz="2100" b="1" dirty="0">
                <a:solidFill>
                  <a:schemeClr val="tx1"/>
                </a:solidFill>
                <a:latin typeface="Times New Roman" panose="02020603050405020304" pitchFamily="18" charset="0"/>
                <a:cs typeface="Times New Roman" panose="02020603050405020304" pitchFamily="18" charset="0"/>
                <a:sym typeface="+mn-ea"/>
              </a:rPr>
              <a:t>DEPARTMENT OF CYBER SECURITY</a:t>
            </a:r>
            <a:endParaRPr lang="en-US" sz="2100">
              <a:solidFill>
                <a:schemeClr val="tx1"/>
              </a:solidFill>
            </a:endParaRPr>
          </a:p>
          <a:p>
            <a:r>
              <a:rPr lang="en-US" sz="2100">
                <a:solidFill>
                  <a:schemeClr val="tx1"/>
                </a:solidFill>
              </a:rPr>
              <a:t>Aloysius Rosario.K </a:t>
            </a:r>
            <a:r>
              <a:rPr lang="en-US" sz="2100">
                <a:solidFill>
                  <a:schemeClr val="tx1"/>
                </a:solidFill>
                <a:sym typeface="+mn-ea"/>
              </a:rPr>
              <a:t>(6113227711013)</a:t>
            </a:r>
            <a:endParaRPr lang="en-US" sz="2100">
              <a:solidFill>
                <a:schemeClr val="tx1"/>
              </a:solidFill>
            </a:endParaRPr>
          </a:p>
          <a:p>
            <a:r>
              <a:rPr lang="en-US" sz="2100">
                <a:solidFill>
                  <a:schemeClr val="tx1"/>
                </a:solidFill>
              </a:rPr>
              <a:t>Aasif Hameed.S      </a:t>
            </a:r>
            <a:r>
              <a:rPr lang="en-US" sz="2100">
                <a:solidFill>
                  <a:schemeClr val="tx1"/>
                </a:solidFill>
                <a:sym typeface="+mn-ea"/>
              </a:rPr>
              <a:t>(6113227711001)</a:t>
            </a:r>
            <a:endParaRPr lang="en-US" sz="2100">
              <a:solidFill>
                <a:schemeClr val="tx1"/>
              </a:solidFill>
            </a:endParaRPr>
          </a:p>
          <a:p>
            <a:r>
              <a:rPr lang="en-US" sz="2100">
                <a:solidFill>
                  <a:schemeClr val="tx1"/>
                </a:solidFill>
              </a:rPr>
              <a:t>Anbarasu.P              </a:t>
            </a:r>
            <a:r>
              <a:rPr lang="en-US" sz="2100">
                <a:solidFill>
                  <a:schemeClr val="tx1"/>
                </a:solidFill>
                <a:sym typeface="+mn-ea"/>
              </a:rPr>
              <a:t>(6113227711015)</a:t>
            </a:r>
            <a:endParaRPr lang="en-US" sz="2100">
              <a:solidFill>
                <a:schemeClr val="tx1"/>
              </a:solidFill>
            </a:endParaRPr>
          </a:p>
          <a:p>
            <a:r>
              <a:rPr lang="en-US" sz="2100">
                <a:solidFill>
                  <a:schemeClr val="tx1"/>
                </a:solidFill>
              </a:rPr>
              <a:t>Arunkumar.M         (6113227711019)</a:t>
            </a:r>
            <a:endParaRPr lang="en-US" sz="2100">
              <a:solidFill>
                <a:schemeClr val="tx1"/>
              </a:solidFill>
            </a:endParaRPr>
          </a:p>
          <a:p>
            <a:r>
              <a:rPr lang="en-US" sz="2100">
                <a:solidFill>
                  <a:schemeClr val="tx1"/>
                </a:solidFill>
              </a:rPr>
              <a:t>Under the Guidance of</a:t>
            </a:r>
            <a:endParaRPr lang="en-US" sz="2100">
              <a:solidFill>
                <a:schemeClr val="tx1"/>
              </a:solidFill>
            </a:endParaRPr>
          </a:p>
          <a:p>
            <a:r>
              <a:rPr lang="en-US" sz="2100" b="1">
                <a:solidFill>
                  <a:schemeClr val="tx1"/>
                </a:solidFill>
                <a:sym typeface="+mn-ea"/>
              </a:rPr>
              <a:t>Dr.</a:t>
            </a:r>
            <a:r>
              <a:rPr lang="en-IN" altLang="en-US" sz="2100" b="1">
                <a:solidFill>
                  <a:schemeClr val="tx1"/>
                </a:solidFill>
                <a:sym typeface="+mn-ea"/>
              </a:rPr>
              <a:t>A </a:t>
            </a:r>
            <a:r>
              <a:rPr lang="en-US" sz="2100" b="1">
                <a:solidFill>
                  <a:schemeClr val="tx1"/>
                </a:solidFill>
                <a:sym typeface="+mn-ea"/>
              </a:rPr>
              <a:t>Neela</a:t>
            </a:r>
            <a:r>
              <a:rPr lang="en-IN" altLang="en-US" sz="2100" b="1">
                <a:solidFill>
                  <a:schemeClr val="tx1"/>
                </a:solidFill>
                <a:sym typeface="+mn-ea"/>
              </a:rPr>
              <a:t> M</a:t>
            </a:r>
            <a:r>
              <a:rPr lang="en-US" sz="2100" b="1">
                <a:solidFill>
                  <a:schemeClr val="tx1"/>
                </a:solidFill>
                <a:sym typeface="+mn-ea"/>
              </a:rPr>
              <a:t>adheswari</a:t>
            </a:r>
            <a:endParaRPr lang="en-US" sz="2100" b="1">
              <a:solidFill>
                <a:schemeClr val="tx1"/>
              </a:solidFill>
              <a:sym typeface="+mn-ea"/>
            </a:endParaRPr>
          </a:p>
          <a:p>
            <a:pPr algn="ctr" eaLnBrk="1" hangingPunct="1"/>
            <a:r>
              <a:rPr lang="en-IN" altLang="en-US" sz="2100" dirty="0">
                <a:solidFill>
                  <a:schemeClr val="tx1"/>
                </a:solidFill>
                <a:latin typeface="Times New Roman" panose="02020603050405020304" pitchFamily="18" charset="0"/>
                <a:cs typeface="Times New Roman" panose="02020603050405020304" pitchFamily="18" charset="0"/>
                <a:sym typeface="+mn-ea"/>
              </a:rPr>
              <a:t>Head of Department</a:t>
            </a:r>
            <a:r>
              <a:rPr lang="en-US" altLang="en-US" sz="2100" dirty="0">
                <a:solidFill>
                  <a:schemeClr val="tx1"/>
                </a:solidFill>
                <a:latin typeface="Times New Roman" panose="02020603050405020304" pitchFamily="18" charset="0"/>
                <a:cs typeface="Times New Roman" panose="02020603050405020304" pitchFamily="18" charset="0"/>
                <a:sym typeface="+mn-ea"/>
              </a:rPr>
              <a:t>, Department of Cyber Security </a:t>
            </a:r>
            <a:endParaRPr lang="en-US" altLang="en-US" sz="2100" dirty="0">
              <a:solidFill>
                <a:schemeClr val="tx1"/>
              </a:solidFill>
              <a:latin typeface="Times New Roman" panose="02020603050405020304" pitchFamily="18" charset="0"/>
              <a:cs typeface="Times New Roman" panose="02020603050405020304" pitchFamily="18" charset="0"/>
            </a:endParaRPr>
          </a:p>
          <a:p>
            <a:pPr algn="ctr" eaLnBrk="1" hangingPunct="1"/>
            <a:r>
              <a:rPr lang="en-US" altLang="en-US" sz="2100" dirty="0">
                <a:solidFill>
                  <a:schemeClr val="tx1"/>
                </a:solidFill>
                <a:latin typeface="Times New Roman" panose="02020603050405020304" pitchFamily="18" charset="0"/>
                <a:cs typeface="Times New Roman" panose="02020603050405020304" pitchFamily="18" charset="0"/>
                <a:sym typeface="+mn-ea"/>
              </a:rPr>
              <a:t>Mahendra Engineering College, Namakkal Dt. </a:t>
            </a:r>
            <a:endParaRPr lang="en-US" altLang="en-US" sz="2100" b="1" dirty="0">
              <a:solidFill>
                <a:schemeClr val="tx1"/>
              </a:solidFill>
              <a:latin typeface="Times New Roman" panose="02020603050405020304" pitchFamily="18" charset="0"/>
              <a:cs typeface="Times New Roman" panose="02020603050405020304" pitchFamily="18" charset="0"/>
              <a:sym typeface="+mn-ea"/>
            </a:endParaRPr>
          </a:p>
        </p:txBody>
      </p:sp>
      <p:pic>
        <p:nvPicPr>
          <p:cNvPr id="7" name="Picture 8"/>
          <p:cNvPicPr>
            <a:picLocks noChangeAspect="1"/>
          </p:cNvPicPr>
          <p:nvPr/>
        </p:nvPicPr>
        <p:blipFill>
          <a:blip r:embed="rId1">
            <a:lum contrast="20000"/>
          </a:blip>
          <a:stretch>
            <a:fillRect/>
          </a:stretch>
        </p:blipFill>
        <p:spPr>
          <a:xfrm>
            <a:off x="11024870" y="281940"/>
            <a:ext cx="1076325" cy="1189038"/>
          </a:xfrm>
          <a:prstGeom prst="rect">
            <a:avLst/>
          </a:prstGeom>
          <a:solidFill>
            <a:srgbClr val="002060"/>
          </a:solidFill>
          <a:ln w="9525">
            <a:noFill/>
          </a:ln>
        </p:spPr>
      </p:pic>
      <p:pic>
        <p:nvPicPr>
          <p:cNvPr id="8" name="Picture 4"/>
          <p:cNvPicPr>
            <a:picLocks noChangeAspect="1"/>
          </p:cNvPicPr>
          <p:nvPr/>
        </p:nvPicPr>
        <p:blipFill>
          <a:blip r:embed="rId2"/>
          <a:stretch>
            <a:fillRect/>
          </a:stretch>
        </p:blipFill>
        <p:spPr>
          <a:xfrm>
            <a:off x="252730" y="423863"/>
            <a:ext cx="914400" cy="904875"/>
          </a:xfrm>
          <a:prstGeom prst="rect">
            <a:avLst/>
          </a:prstGeom>
          <a:noFill/>
          <a:ln w="9525">
            <a:noFill/>
          </a:ln>
        </p:spPr>
      </p:pic>
      <p:sp>
        <p:nvSpPr>
          <p:cNvPr id="9" name="Text Box 8"/>
          <p:cNvSpPr txBox="1"/>
          <p:nvPr/>
        </p:nvSpPr>
        <p:spPr>
          <a:xfrm>
            <a:off x="0" y="6061075"/>
            <a:ext cx="12192635" cy="645160"/>
          </a:xfrm>
          <a:prstGeom prst="rect">
            <a:avLst/>
          </a:prstGeom>
          <a:noFill/>
        </p:spPr>
        <p:txBody>
          <a:bodyPr wrap="square" rtlCol="0">
            <a:spAutoFit/>
          </a:bodyPr>
          <a:p>
            <a:r>
              <a:rPr lang="en-US" altLang="en-US" b="1" dirty="0">
                <a:solidFill>
                  <a:schemeClr val="tx1"/>
                </a:solidFill>
                <a:latin typeface="Times New Roman" panose="02020603050405020304" pitchFamily="18" charset="0"/>
                <a:cs typeface="Times New Roman" panose="02020603050405020304" pitchFamily="18" charset="0"/>
                <a:sym typeface="+mn-ea"/>
              </a:rPr>
              <a:t>    Slide No. 1</a:t>
            </a:r>
            <a:r>
              <a:rPr lang="en-US" altLang="en-US" dirty="0">
                <a:solidFill>
                  <a:schemeClr val="tx1"/>
                </a:solidFill>
                <a:latin typeface="Times New Roman" panose="02020603050405020304" pitchFamily="18" charset="0"/>
                <a:cs typeface="Times New Roman" panose="02020603050405020304" pitchFamily="18" charset="0"/>
                <a:sym typeface="+mn-ea"/>
              </a:rPr>
              <a:t> </a:t>
            </a:r>
            <a:r>
              <a:rPr lang="en-US" altLang="en-US" dirty="0">
                <a:solidFill>
                  <a:schemeClr val="tx1"/>
                </a:solidFill>
                <a:latin typeface="Arial" panose="020B0604020202020204" pitchFamily="34" charset="0"/>
                <a:sym typeface="+mn-ea"/>
              </a:rPr>
              <a:t>	</a:t>
            </a:r>
            <a:r>
              <a:rPr lang="en-US" altLang="en-US" dirty="0">
                <a:solidFill>
                  <a:schemeClr val="tx1"/>
                </a:solidFill>
                <a:latin typeface="Times New Roman" panose="02020603050405020304" pitchFamily="18" charset="0"/>
                <a:cs typeface="Times New Roman" panose="02020603050405020304" pitchFamily="18" charset="0"/>
                <a:sym typeface="+mn-ea"/>
              </a:rPr>
              <a:t>			                              	                                                      </a:t>
            </a:r>
            <a:r>
              <a:rPr lang="en-US" altLang="en-US" b="1" dirty="0">
                <a:solidFill>
                  <a:schemeClr val="tx1"/>
                </a:solidFill>
                <a:latin typeface="Times New Roman" panose="02020603050405020304" pitchFamily="18" charset="0"/>
                <a:cs typeface="Times New Roman" panose="02020603050405020304" pitchFamily="18" charset="0"/>
                <a:sym typeface="+mn-ea"/>
              </a:rPr>
              <a:t>Review Date: 29.01.2026</a:t>
            </a:r>
            <a:endParaRPr lang="en-US" altLang="en-US" b="1" dirty="0">
              <a:solidFill>
                <a:schemeClr val="tx1"/>
              </a:solidFill>
              <a:latin typeface="Times New Roman" panose="02020603050405020304" pitchFamily="18" charset="0"/>
              <a:ea typeface="Times New Roman" panose="02020603050405020304" pitchFamily="18" charset="0"/>
            </a:endParaRPr>
          </a:p>
          <a:p>
            <a:endParaRPr lang="en-US" altLang="en-US" b="1" dirty="0">
              <a:solidFill>
                <a:schemeClr val="tx1"/>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              </a:t>
            </a:r>
            <a:r>
              <a:rPr lang="en-US">
                <a:latin typeface="Sans Serif Collection" panose="020B0502040504020204" charset="0"/>
                <a:cs typeface="Sans Serif Collection" panose="020B0502040504020204" charset="0"/>
              </a:rPr>
              <a:t>        </a:t>
            </a:r>
            <a:r>
              <a:rPr lang="en-US" b="1">
                <a:latin typeface="Times New Roman" panose="02020603050405020304" pitchFamily="18" charset="0"/>
                <a:cs typeface="Times New Roman" panose="02020603050405020304" pitchFamily="18" charset="0"/>
              </a:rPr>
              <a:t>Content Outline</a:t>
            </a:r>
            <a:endParaRPr lang="en-US"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351790" y="1470660"/>
            <a:ext cx="11002010" cy="4260215"/>
          </a:xfrm>
        </p:spPr>
        <p:txBody>
          <a:bodyPr>
            <a:noAutofit/>
          </a:bodyPr>
          <a:p>
            <a:pPr>
              <a:lnSpc>
                <a:spcPct val="20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sym typeface="+mn-ea"/>
              </a:rPr>
              <a:t>ABSTRACT</a:t>
            </a:r>
            <a:endParaRPr lang="en-US" sz="2400" b="1" dirty="0">
              <a:latin typeface="Times New Roman" panose="02020603050405020304" pitchFamily="18" charset="0"/>
              <a:cs typeface="Times New Roman" panose="02020603050405020304" pitchFamily="18" charset="0"/>
            </a:endParaRPr>
          </a:p>
          <a:p>
            <a:pPr>
              <a:lnSpc>
                <a:spcPct val="20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sym typeface="+mn-ea"/>
              </a:rPr>
              <a:t>INTRODUCTION</a:t>
            </a:r>
            <a:endParaRPr lang="en-US" sz="2400" b="1" dirty="0">
              <a:latin typeface="Times New Roman" panose="02020603050405020304" pitchFamily="18" charset="0"/>
              <a:cs typeface="Times New Roman" panose="02020603050405020304" pitchFamily="18" charset="0"/>
            </a:endParaRPr>
          </a:p>
          <a:p>
            <a:pPr>
              <a:lnSpc>
                <a:spcPct val="20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sym typeface="+mn-ea"/>
              </a:rPr>
              <a:t>LITERATURE REVIEW</a:t>
            </a:r>
            <a:endParaRPr lang="en-US" sz="2400" b="1" dirty="0">
              <a:latin typeface="Times New Roman" panose="02020603050405020304" pitchFamily="18" charset="0"/>
              <a:cs typeface="Times New Roman" panose="02020603050405020304" pitchFamily="18" charset="0"/>
            </a:endParaRPr>
          </a:p>
          <a:p>
            <a:pPr>
              <a:lnSpc>
                <a:spcPct val="20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sym typeface="+mn-ea"/>
              </a:rPr>
              <a:t>LIST OF MODULES </a:t>
            </a:r>
            <a:endParaRPr lang="en-US" sz="2400" b="1" dirty="0">
              <a:latin typeface="Times New Roman" panose="02020603050405020304" pitchFamily="18" charset="0"/>
              <a:cs typeface="Times New Roman" panose="02020603050405020304" pitchFamily="18" charset="0"/>
            </a:endParaRPr>
          </a:p>
          <a:p>
            <a:pPr>
              <a:lnSpc>
                <a:spcPct val="20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sym typeface="+mn-ea"/>
              </a:rPr>
              <a:t>SYSTEM REQUIREMENTS</a:t>
            </a:r>
            <a:endParaRPr lang="en-US" sz="2400" b="1" dirty="0">
              <a:latin typeface="Times New Roman" panose="02020603050405020304" pitchFamily="18" charset="0"/>
              <a:cs typeface="Times New Roman" panose="02020603050405020304" pitchFamily="18" charset="0"/>
            </a:endParaRPr>
          </a:p>
          <a:p>
            <a:pPr>
              <a:lnSpc>
                <a:spcPct val="20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sym typeface="+mn-ea"/>
              </a:rPr>
              <a:t>CONCLUSION</a:t>
            </a:r>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p:txBody>
      </p:sp>
      <p:pic>
        <p:nvPicPr>
          <p:cNvPr id="7" name="Picture 8"/>
          <p:cNvPicPr>
            <a:picLocks noChangeAspect="1"/>
          </p:cNvPicPr>
          <p:nvPr/>
        </p:nvPicPr>
        <p:blipFill>
          <a:blip r:embed="rId1">
            <a:lum contrast="20000"/>
          </a:blip>
          <a:stretch>
            <a:fillRect/>
          </a:stretch>
        </p:blipFill>
        <p:spPr>
          <a:xfrm>
            <a:off x="11024870" y="281940"/>
            <a:ext cx="1076325" cy="1189038"/>
          </a:xfrm>
          <a:prstGeom prst="rect">
            <a:avLst/>
          </a:prstGeom>
          <a:solidFill>
            <a:srgbClr val="002060"/>
          </a:solidFill>
          <a:ln w="9525">
            <a:noFill/>
          </a:ln>
        </p:spPr>
      </p:pic>
      <p:pic>
        <p:nvPicPr>
          <p:cNvPr id="9" name="Picture 4"/>
          <p:cNvPicPr>
            <a:picLocks noChangeAspect="1"/>
          </p:cNvPicPr>
          <p:nvPr/>
        </p:nvPicPr>
        <p:blipFill>
          <a:blip r:embed="rId2"/>
          <a:stretch>
            <a:fillRect/>
          </a:stretch>
        </p:blipFill>
        <p:spPr>
          <a:xfrm>
            <a:off x="351790" y="281940"/>
            <a:ext cx="1142365" cy="113030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				</a:t>
            </a:r>
            <a:r>
              <a:rPr lang="en-US" b="1">
                <a:latin typeface="Times New Roman" panose="02020603050405020304" pitchFamily="18" charset="0"/>
                <a:cs typeface="Times New Roman" panose="02020603050405020304" pitchFamily="18" charset="0"/>
              </a:rPr>
              <a:t>ABSTRACT</a:t>
            </a:r>
            <a:endParaRPr lang="en-US"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0" y="1825625"/>
            <a:ext cx="11353800" cy="4351655"/>
          </a:xfrm>
        </p:spPr>
        <p:txBody>
          <a:bodyPr>
            <a:normAutofit lnSpcReduction="20000"/>
          </a:bodyPr>
          <a:p>
            <a:pPr algn="l"/>
            <a:r>
              <a:rPr lang="en-US" altLang="en-US"/>
              <a:t> This project presents a secure network-based messaging system that uses the Secure Shell (SSH) protocol to protect communication over untrusted networks.</a:t>
            </a:r>
            <a:endParaRPr lang="en-US" altLang="en-US"/>
          </a:p>
          <a:p>
            <a:pPr algn="l"/>
            <a:endParaRPr lang="en-US" altLang="en-US"/>
          </a:p>
          <a:p>
            <a:pPr algn="l"/>
            <a:r>
              <a:rPr lang="en-US" altLang="en-US"/>
              <a:t> The system integrates hybrid cryptography using RSA for key exchange and AES-256 for end-to-end message encryption, ensuring confidentiality and data integrity.</a:t>
            </a:r>
            <a:endParaRPr lang="en-US" altLang="en-US"/>
          </a:p>
          <a:p>
            <a:pPr algn="l"/>
            <a:endParaRPr lang="en-US" altLang="en-US"/>
          </a:p>
          <a:p>
            <a:pPr algn="l"/>
            <a:r>
              <a:rPr lang="en-US" altLang="en-US"/>
              <a:t> By combining encrypted transport and application-layer security, the proposed solution improves user anonymity and enables secure real-time communication.</a:t>
            </a:r>
            <a:endParaRPr lang="en-US" altLang="en-US"/>
          </a:p>
        </p:txBody>
      </p:sp>
      <p:pic>
        <p:nvPicPr>
          <p:cNvPr id="7" name="Picture 8"/>
          <p:cNvPicPr>
            <a:picLocks noChangeAspect="1"/>
          </p:cNvPicPr>
          <p:nvPr/>
        </p:nvPicPr>
        <p:blipFill>
          <a:blip r:embed="rId1">
            <a:lum contrast="20000"/>
          </a:blip>
          <a:stretch>
            <a:fillRect/>
          </a:stretch>
        </p:blipFill>
        <p:spPr>
          <a:xfrm>
            <a:off x="11024870" y="365125"/>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252730" y="365125"/>
            <a:ext cx="1152525" cy="114046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                         </a:t>
            </a:r>
            <a:r>
              <a:rPr lang="en-US" b="1">
                <a:latin typeface="Times New Roman" panose="02020603050405020304" pitchFamily="18" charset="0"/>
                <a:cs typeface="Times New Roman" panose="02020603050405020304" pitchFamily="18" charset="0"/>
              </a:rPr>
              <a:t>INTRODUCTION</a:t>
            </a:r>
            <a:endParaRPr lang="en-US"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0" y="1825625"/>
            <a:ext cx="10936605" cy="5293995"/>
          </a:xfrm>
        </p:spPr>
        <p:txBody>
          <a:bodyPr>
            <a:normAutofit lnSpcReduction="20000"/>
          </a:bodyPr>
          <a:p>
            <a:r>
              <a:rPr lang="en-US" altLang="en-US" sz="3000"/>
              <a:t>Growing dependence on network-based communication has increased concerns about data privacy and unauthorized access.</a:t>
            </a:r>
            <a:endParaRPr lang="en-US" altLang="en-US" sz="3000"/>
          </a:p>
          <a:p>
            <a:endParaRPr lang="en-US" altLang="en-US" sz="3000"/>
          </a:p>
          <a:p>
            <a:r>
              <a:rPr lang="en-US" altLang="en-US" sz="3000"/>
              <a:t>Traditional messaging systems are vulnerable to eavesdropping, interception, and identity exposure.</a:t>
            </a:r>
            <a:endParaRPr lang="en-US" altLang="en-US" sz="3000"/>
          </a:p>
          <a:p>
            <a:endParaRPr lang="en-US" altLang="en-US" sz="3000"/>
          </a:p>
          <a:p>
            <a:r>
              <a:rPr lang="en-US" altLang="en-US" sz="3000"/>
              <a:t>Secure Shell (SSH) provides encrypted communication and authentication over insecure networks.</a:t>
            </a:r>
            <a:endParaRPr lang="en-US" altLang="en-US" sz="3000"/>
          </a:p>
          <a:p>
            <a:endParaRPr lang="en-US" altLang="en-US" sz="3000"/>
          </a:p>
          <a:p>
            <a:r>
              <a:rPr lang="en-US" altLang="en-US" sz="3000"/>
              <a:t>This project proposes a secure network messenger using SSH with hybrid cryptography to improve confidentiality and user anonymity.</a:t>
            </a:r>
            <a:endParaRPr lang="en-US" altLang="en-US" sz="3000"/>
          </a:p>
        </p:txBody>
      </p:sp>
      <p:pic>
        <p:nvPicPr>
          <p:cNvPr id="7" name="Picture 8"/>
          <p:cNvPicPr>
            <a:picLocks noChangeAspect="1"/>
          </p:cNvPicPr>
          <p:nvPr/>
        </p:nvPicPr>
        <p:blipFill>
          <a:blip r:embed="rId1">
            <a:lum contrast="20000"/>
          </a:blip>
          <a:stretch>
            <a:fillRect/>
          </a:stretch>
        </p:blipFill>
        <p:spPr>
          <a:xfrm>
            <a:off x="10793730" y="281940"/>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252730" y="365125"/>
            <a:ext cx="1152525" cy="114046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499110" y="742315"/>
            <a:ext cx="10063480" cy="2268855"/>
          </a:xfrm>
        </p:spPr>
        <p:txBody>
          <a:bodyPr>
            <a:normAutofit fontScale="90000"/>
          </a:bodyPr>
          <a:p>
            <a:pPr algn="l"/>
            <a:r>
              <a:rPr lang="en-US" altLang="en-US" b="1" dirty="0">
                <a:latin typeface="Times New Roman" panose="02020603050405020304" pitchFamily="18" charset="0"/>
                <a:cs typeface="Times New Roman" panose="02020603050405020304" pitchFamily="18" charset="0"/>
                <a:sym typeface="+mn-ea"/>
              </a:rPr>
              <a:t>                 LITERATURE REVIEW</a:t>
            </a:r>
            <a:br>
              <a:rPr lang="en-US" altLang="en-US" b="1" dirty="0">
                <a:latin typeface="Times New Roman" panose="02020603050405020304" pitchFamily="18" charset="0"/>
                <a:cs typeface="Times New Roman" panose="02020603050405020304" pitchFamily="18" charset="0"/>
                <a:sym typeface="+mn-ea"/>
              </a:rPr>
            </a:br>
            <a:br>
              <a:rPr lang="en-US" altLang="en-US" b="1" dirty="0">
                <a:latin typeface="Times New Roman" panose="02020603050405020304" pitchFamily="18" charset="0"/>
                <a:cs typeface="Times New Roman" panose="02020603050405020304" pitchFamily="18" charset="0"/>
                <a:sym typeface="+mn-ea"/>
              </a:rPr>
            </a:br>
            <a:r>
              <a:rPr lang="en-US" altLang="en-US" sz="2000" b="1">
                <a:latin typeface="Times New Roman" panose="02020603050405020304" pitchFamily="18" charset="0"/>
                <a:cs typeface="Times New Roman" panose="02020603050405020304" pitchFamily="18" charset="0"/>
                <a:sym typeface="+mn-ea"/>
              </a:rPr>
              <a:t>A Comprehensive End-to-End Solution for Web Security with  Cryptography,Multi-Factor Authentication, and Secure Communication</a:t>
            </a:r>
            <a:br>
              <a:rPr lang="en-US" altLang="en-US" sz="3000">
                <a:latin typeface="Times New Roman" panose="02020603050405020304" pitchFamily="18" charset="0"/>
                <a:cs typeface="Times New Roman" panose="02020603050405020304" pitchFamily="18" charset="0"/>
                <a:sym typeface="+mn-ea"/>
              </a:rPr>
            </a:br>
            <a:r>
              <a:rPr lang="en-US" altLang="en-US" sz="2000">
                <a:latin typeface="Times New Roman" panose="02020603050405020304" pitchFamily="18" charset="0"/>
                <a:cs typeface="Times New Roman" panose="02020603050405020304" pitchFamily="18" charset="0"/>
                <a:sym typeface="+mn-ea"/>
              </a:rPr>
              <a:t>Kanderi Johith Kumar,Kandlapalli Aravind Sai,Adapala Dharshan Reddy,Chithamreddy Pranay Diwik Reddy,Shinu M Rajagoapala</a:t>
            </a:r>
            <a:br>
              <a:rPr lang="en-US" altLang="en-US" sz="2000" b="1" dirty="0">
                <a:latin typeface="Times New Roman" panose="02020603050405020304" pitchFamily="18" charset="0"/>
                <a:cs typeface="Times New Roman" panose="02020603050405020304" pitchFamily="18" charset="0"/>
                <a:sym typeface="+mn-ea"/>
              </a:rPr>
            </a:br>
            <a:endParaRPr lang="en-US" sz="2000"/>
          </a:p>
        </p:txBody>
      </p:sp>
      <p:sp>
        <p:nvSpPr>
          <p:cNvPr id="5" name="Content Placeholder 4"/>
          <p:cNvSpPr>
            <a:spLocks noGrp="1"/>
          </p:cNvSpPr>
          <p:nvPr>
            <p:ph idx="1"/>
          </p:nvPr>
        </p:nvSpPr>
        <p:spPr>
          <a:xfrm>
            <a:off x="499745" y="2320290"/>
            <a:ext cx="11329670" cy="4224655"/>
          </a:xfrm>
        </p:spPr>
        <p:txBody>
          <a:bodyPr>
            <a:normAutofit fontScale="25000"/>
          </a:bodyPr>
          <a:p>
            <a:endParaRPr lang="en-US" altLang="en-US"/>
          </a:p>
          <a:p>
            <a:endParaRPr lang="en-US" altLang="en-US"/>
          </a:p>
          <a:p>
            <a:r>
              <a:rPr lang="en-US" altLang="en-US" sz="8800">
                <a:latin typeface="Times New Roman" panose="02020603050405020304" pitchFamily="18" charset="0"/>
                <a:cs typeface="Times New Roman" panose="02020603050405020304" pitchFamily="18" charset="0"/>
              </a:rPr>
              <a:t>Web security has become a critical research area due to the rapid growth of web-based applications, online communication, and digital financial transactions, increasing exposure to cyber threats such as data breaches and unauthorized access.</a:t>
            </a:r>
            <a:endParaRPr lang="en-US" altLang="en-US" sz="8800">
              <a:latin typeface="Times New Roman" panose="02020603050405020304" pitchFamily="18" charset="0"/>
              <a:cs typeface="Times New Roman" panose="02020603050405020304" pitchFamily="18" charset="0"/>
            </a:endParaRPr>
          </a:p>
          <a:p>
            <a:r>
              <a:rPr lang="en-US" altLang="en-US" sz="8800">
                <a:latin typeface="Times New Roman" panose="02020603050405020304" pitchFamily="18" charset="0"/>
                <a:cs typeface="Times New Roman" panose="02020603050405020304" pitchFamily="18" charset="0"/>
              </a:rPr>
              <a:t>Cryptographic techniques play a vital role in protecting sensitive data. Studies have explored both classical and modern encryption algorithms, demonstrating their effectiveness in ensuring data confidentiality, though many focus on standalone encryption rather than full system integration.</a:t>
            </a:r>
            <a:endParaRPr lang="en-US" altLang="en-US" sz="8800">
              <a:latin typeface="Times New Roman" panose="02020603050405020304" pitchFamily="18" charset="0"/>
              <a:cs typeface="Times New Roman" panose="02020603050405020304" pitchFamily="18" charset="0"/>
            </a:endParaRPr>
          </a:p>
          <a:p>
            <a:r>
              <a:rPr lang="en-US" altLang="en-US" sz="8800">
                <a:latin typeface="Times New Roman" panose="02020603050405020304" pitchFamily="18" charset="0"/>
                <a:cs typeface="Times New Roman" panose="02020603050405020304" pitchFamily="18" charset="0"/>
              </a:rPr>
              <a:t>Research on symmetric encryption algorithms such as AES, DES, Triple DES, and Blowfish highlights their reliability, efficiency, and widespread adoption in securing digital data across web platforms.</a:t>
            </a:r>
            <a:endParaRPr lang="en-US" altLang="en-US" sz="8800">
              <a:latin typeface="Times New Roman" panose="02020603050405020304" pitchFamily="18" charset="0"/>
              <a:cs typeface="Times New Roman" panose="02020603050405020304" pitchFamily="18" charset="0"/>
            </a:endParaRPr>
          </a:p>
        </p:txBody>
      </p:sp>
      <p:pic>
        <p:nvPicPr>
          <p:cNvPr id="7" name="Picture 8"/>
          <p:cNvPicPr>
            <a:picLocks noChangeAspect="1"/>
          </p:cNvPicPr>
          <p:nvPr/>
        </p:nvPicPr>
        <p:blipFill>
          <a:blip r:embed="rId1">
            <a:lum contrast="20000"/>
          </a:blip>
          <a:stretch>
            <a:fillRect/>
          </a:stretch>
        </p:blipFill>
        <p:spPr>
          <a:xfrm>
            <a:off x="10562590" y="228600"/>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605155" y="168910"/>
            <a:ext cx="1042035" cy="103124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b="1">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sym typeface="+mn-ea"/>
              </a:rPr>
              <a:t>LITERATURE REVIEW</a:t>
            </a:r>
            <a:endParaRPr lang="en-US"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52095" y="1825625"/>
            <a:ext cx="11101705" cy="4831715"/>
          </a:xfrm>
        </p:spPr>
        <p:txBody>
          <a:bodyPr>
            <a:normAutofit fontScale="80000"/>
          </a:bodyPr>
          <a:p>
            <a:r>
              <a:rPr lang="en-US" altLang="en-US" b="1">
                <a:latin typeface="Times New Roman" panose="02020603050405020304" pitchFamily="18" charset="0"/>
                <a:cs typeface="Times New Roman" panose="02020603050405020304" pitchFamily="18" charset="0"/>
                <a:sym typeface="+mn-ea"/>
              </a:rPr>
              <a:t> T. E. Djidjekh, A. Takacs, G. Loubet, L. Sanogo, and D. Dragomirescu, “Lightweight protocol-agnostic security enhancement for SWIPT-enabled IoT systems,” IEEE Internet Things J., Early Access, Feb. 11, 2026, doi: 10.1109/JIOT.2026.3663551.</a:t>
            </a:r>
            <a:endParaRPr lang="en-US" altLang="en-US"/>
          </a:p>
          <a:p>
            <a:r>
              <a:rPr lang="en-US" altLang="en-US"/>
              <a:t>Their approach introduces a lightweight cryptographic enhancement that operates independently of the underlying communication protocol, allowing seamless integration into existing IoT infrastructures. The design focuses on minimizing computational and energy consumption while maintaining data confidentiality and integrity.</a:t>
            </a:r>
            <a:r>
              <a:rPr lang="en-IN" altLang="en-US"/>
              <a:t> </a:t>
            </a:r>
            <a:endParaRPr lang="en-US" altLang="en-US"/>
          </a:p>
          <a:p>
            <a:r>
              <a:rPr lang="en-US" altLang="en-US"/>
              <a:t>The work demonstrates that security mechanisms for energy-harvesting IoT systems must balance protection strength with power efficiency. This study inspires the use of lightweight and performance-aware encryption strategies in the proposed secure messaging system to ensure both security and computational efficiency.</a:t>
            </a:r>
            <a:endParaRPr lang="en-US" altLang="en-US"/>
          </a:p>
        </p:txBody>
      </p:sp>
      <p:pic>
        <p:nvPicPr>
          <p:cNvPr id="7" name="Picture 8"/>
          <p:cNvPicPr>
            <a:picLocks noChangeAspect="1"/>
          </p:cNvPicPr>
          <p:nvPr/>
        </p:nvPicPr>
        <p:blipFill>
          <a:blip r:embed="rId1">
            <a:lum contrast="20000"/>
          </a:blip>
          <a:stretch>
            <a:fillRect/>
          </a:stretch>
        </p:blipFill>
        <p:spPr>
          <a:xfrm>
            <a:off x="10944860" y="228600"/>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252730" y="365125"/>
            <a:ext cx="1152525" cy="114046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a:bodyPr>
          <a:p>
            <a:r>
              <a:rPr lang="en-US" altLang="en-US" b="1" dirty="0">
                <a:latin typeface="Times New Roman" panose="02020603050405020304" pitchFamily="18" charset="0"/>
                <a:cs typeface="Times New Roman" panose="02020603050405020304" pitchFamily="18" charset="0"/>
                <a:sym typeface="+mn-ea"/>
              </a:rPr>
              <a:t>		    LITERATURE REVIEW</a:t>
            </a:r>
            <a:endParaRPr lang="en-US"/>
          </a:p>
        </p:txBody>
      </p:sp>
      <p:sp>
        <p:nvSpPr>
          <p:cNvPr id="5" name="Content Placeholder 4"/>
          <p:cNvSpPr>
            <a:spLocks noGrp="1"/>
          </p:cNvSpPr>
          <p:nvPr>
            <p:ph idx="1"/>
          </p:nvPr>
        </p:nvSpPr>
        <p:spPr/>
        <p:txBody>
          <a:bodyPr>
            <a:normAutofit fontScale="90000"/>
          </a:bodyPr>
          <a:p>
            <a:r>
              <a:rPr lang="en-US" altLang="en-US" b="1">
                <a:latin typeface="Times New Roman" panose="02020603050405020304" pitchFamily="18" charset="0"/>
                <a:cs typeface="Times New Roman" panose="02020603050405020304" pitchFamily="18" charset="0"/>
                <a:sym typeface="+mn-ea"/>
              </a:rPr>
              <a:t>A Comprehensive End-to-End Solution for Web Security with  Cryptography,Multi-Factor Authentication, and Secure Communication</a:t>
            </a:r>
            <a:endParaRPr lang="en-US" altLang="en-US"/>
          </a:p>
          <a:p>
            <a:r>
              <a:rPr lang="en-US" altLang="en-US"/>
              <a:t>Time-based One-Time Password (TOTP) mechanisms generate dynamic authentication codes, offering improved resistance against replay attacks and session hijacking.</a:t>
            </a:r>
            <a:endParaRPr lang="en-US" altLang="en-US"/>
          </a:p>
          <a:p>
            <a:r>
              <a:rPr lang="en-US" altLang="en-US"/>
              <a:t>Research on secure messaging systems demonstrates that end-to-end encryption and strong key management are essential for maintaining message confidentiality and integrity.</a:t>
            </a:r>
            <a:endParaRPr lang="en-US" altLang="en-US"/>
          </a:p>
          <a:p>
            <a:r>
              <a:rPr lang="en-US" altLang="en-US"/>
              <a:t>PGP-based encryption has been widely recognized as an effective method for secure email communication, ensuring that only intended recipients can decrypt and access sensitive messages.</a:t>
            </a:r>
            <a:endParaRPr lang="en-US" altLang="en-US"/>
          </a:p>
        </p:txBody>
      </p:sp>
      <p:pic>
        <p:nvPicPr>
          <p:cNvPr id="7" name="Picture 8"/>
          <p:cNvPicPr>
            <a:picLocks noChangeAspect="1"/>
          </p:cNvPicPr>
          <p:nvPr/>
        </p:nvPicPr>
        <p:blipFill>
          <a:blip r:embed="rId1">
            <a:lum contrast="20000"/>
          </a:blip>
          <a:stretch>
            <a:fillRect/>
          </a:stretch>
        </p:blipFill>
        <p:spPr>
          <a:xfrm>
            <a:off x="11024870" y="281940"/>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252730" y="365125"/>
            <a:ext cx="1152525" cy="114046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b="1" dirty="0">
                <a:latin typeface="Times New Roman" panose="02020603050405020304" pitchFamily="18" charset="0"/>
                <a:cs typeface="Times New Roman" panose="02020603050405020304" pitchFamily="18" charset="0"/>
                <a:sym typeface="+mn-ea"/>
              </a:rPr>
              <a:t>                LITERATURE REVIEW</a:t>
            </a:r>
            <a:endParaRPr lang="en-US"/>
          </a:p>
        </p:txBody>
      </p:sp>
      <p:sp>
        <p:nvSpPr>
          <p:cNvPr id="5" name="Content Placeholder 4"/>
          <p:cNvSpPr>
            <a:spLocks noGrp="1"/>
          </p:cNvSpPr>
          <p:nvPr>
            <p:ph idx="1"/>
          </p:nvPr>
        </p:nvSpPr>
        <p:spPr>
          <a:xfrm>
            <a:off x="838200" y="1825625"/>
            <a:ext cx="10515600" cy="4747895"/>
          </a:xfrm>
        </p:spPr>
        <p:txBody>
          <a:bodyPr>
            <a:normAutofit fontScale="70000"/>
          </a:bodyPr>
          <a:p>
            <a:r>
              <a:rPr lang="en-US" altLang="en-US" b="1">
                <a:latin typeface="Times New Roman" panose="02020603050405020304" pitchFamily="18" charset="0"/>
                <a:cs typeface="Times New Roman" panose="02020603050405020304" pitchFamily="18" charset="0"/>
                <a:sym typeface="+mn-ea"/>
              </a:rPr>
              <a:t>G. A. P. Rodrigues et al., “Securing instant messages with hardware-based cryptography and authentication in browser extension,” IEEE Access, vol. 8, pp. 93387–93402, 2020, doi: 10.1109/ACCESS.2020.2993774.</a:t>
            </a:r>
            <a:endParaRPr lang="en-US" altLang="en-US"/>
          </a:p>
          <a:p>
            <a:r>
              <a:rPr lang="en-US" altLang="en-US"/>
              <a:t>The study emphasizes enhancing message confidentiality and user authentication by leveraging hardware security modules to protect cryptographic keys from software-level attacks.</a:t>
            </a:r>
            <a:endParaRPr lang="en-US" altLang="en-US"/>
          </a:p>
          <a:p>
            <a:r>
              <a:rPr lang="en-US" altLang="en-US"/>
              <a:t>The authors implemented encryption and authentication processes directly within the browser extension, ensuring secure end-to-end communication without relying solely on server-side security mechanisms. Their approach strengthens resistance against key theft, phishing attacks, and unauthorized access by isolating sensitive cryptographic operations in secure hardware components.</a:t>
            </a:r>
            <a:endParaRPr lang="en-US" altLang="en-US"/>
          </a:p>
          <a:p>
            <a:r>
              <a:rPr lang="en-US" altLang="en-US"/>
              <a:t>The authors implemented encryption and authentication processes directly within the browser extension, ensuring secure end-to-end communication without relying solely on server-side security mechanisms. Their approach strengthens resistance against key theft, phishing attacks, and unauthorized access by isolating sensitive cryptographic operations in secure hardware components. </a:t>
            </a:r>
            <a:endParaRPr lang="en-US" altLang="en-US"/>
          </a:p>
        </p:txBody>
      </p:sp>
      <p:sp>
        <p:nvSpPr>
          <p:cNvPr id="7" name="Text Box 6"/>
          <p:cNvSpPr txBox="1"/>
          <p:nvPr/>
        </p:nvSpPr>
        <p:spPr>
          <a:xfrm>
            <a:off x="10245090" y="826135"/>
            <a:ext cx="4064000" cy="368300"/>
          </a:xfrm>
          <a:prstGeom prst="rect">
            <a:avLst/>
          </a:prstGeom>
          <a:noFill/>
        </p:spPr>
        <p:txBody>
          <a:bodyPr wrap="square" rtlCol="0">
            <a:spAutoFit/>
          </a:bodyPr>
          <a:p>
            <a:endParaRPr lang="en-US"/>
          </a:p>
        </p:txBody>
      </p:sp>
      <p:pic>
        <p:nvPicPr>
          <p:cNvPr id="8" name="Picture 8"/>
          <p:cNvPicPr>
            <a:picLocks noChangeAspect="1"/>
          </p:cNvPicPr>
          <p:nvPr/>
        </p:nvPicPr>
        <p:blipFill>
          <a:blip r:embed="rId1">
            <a:lum contrast="20000"/>
          </a:blip>
          <a:stretch>
            <a:fillRect/>
          </a:stretch>
        </p:blipFill>
        <p:spPr>
          <a:xfrm>
            <a:off x="11024870" y="281940"/>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252730" y="365125"/>
            <a:ext cx="1152525" cy="114046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b="1"/>
              <a:t>                   </a:t>
            </a:r>
            <a:r>
              <a:rPr lang="en-US" b="1">
                <a:latin typeface="Times New Roman" panose="02020603050405020304" pitchFamily="18" charset="0"/>
                <a:cs typeface="Times New Roman" panose="02020603050405020304" pitchFamily="18" charset="0"/>
              </a:rPr>
              <a:t> LITERATURE REVIEW</a:t>
            </a:r>
            <a:endParaRPr lang="en-US"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52095" y="1825625"/>
            <a:ext cx="11101705" cy="4616450"/>
          </a:xfrm>
        </p:spPr>
        <p:txBody>
          <a:bodyPr>
            <a:noAutofit/>
          </a:bodyPr>
          <a:p>
            <a:r>
              <a:rPr lang="en-US" altLang="en-US" sz="2400" b="1">
                <a:latin typeface="Times New Roman" panose="02020603050405020304" pitchFamily="18" charset="0"/>
                <a:cs typeface="Times New Roman" panose="02020603050405020304" pitchFamily="18" charset="0"/>
                <a:sym typeface="+mn-ea"/>
              </a:rPr>
              <a:t> A. H. Sarower, T. Bhuiyan, M. Hassan, M. S. Arefin, and G. Hossain, “SMFA: Strengthening multi-factor authentication with steganography for enhanced security,” IEEE Access, vol. 13, pp. 43593–43606, Feb. 2025, doi: 10.1109/ACCESS.2025.3545769.</a:t>
            </a:r>
            <a:endParaRPr lang="en-US" altLang="en-US" sz="2400"/>
          </a:p>
          <a:p>
            <a:r>
              <a:rPr lang="en-US" altLang="en-US" sz="2400"/>
              <a:t>The proposed approach combines traditional multi-factor authentication mechanisms with steganographic concealment to provide an additional layer of security. By hiding authentication information rather than transmitting it directly, the framework mitigates common attacks such as phishing, replay attacks, and brute-force attempts.s</a:t>
            </a:r>
            <a:endParaRPr lang="en-US" altLang="en-US" sz="2400"/>
          </a:p>
          <a:p>
            <a:r>
              <a:rPr lang="en-US" altLang="en-US" sz="2400"/>
              <a:t>This work demonstrates that combining cryptographic protection with data-hiding techniques can significantly enhance authentication robustness. It inspires the integration of secure authentication mechanisms in the proposed system to ensure stronger user identity verification alongside encrypted message transmission. </a:t>
            </a:r>
            <a:endParaRPr lang="en-US" altLang="en-US" sz="2400"/>
          </a:p>
        </p:txBody>
      </p:sp>
      <p:pic>
        <p:nvPicPr>
          <p:cNvPr id="7" name="Picture 8"/>
          <p:cNvPicPr>
            <a:picLocks noChangeAspect="1"/>
          </p:cNvPicPr>
          <p:nvPr/>
        </p:nvPicPr>
        <p:blipFill>
          <a:blip r:embed="rId1">
            <a:lum contrast="20000"/>
          </a:blip>
          <a:stretch>
            <a:fillRect/>
          </a:stretch>
        </p:blipFill>
        <p:spPr>
          <a:xfrm>
            <a:off x="10877550" y="501650"/>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252730" y="365125"/>
            <a:ext cx="1152525" cy="114046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sz="5400" b="1"/>
              <a:t>                    </a:t>
            </a:r>
            <a:r>
              <a:rPr lang="en-US" sz="5400" b="1">
                <a:latin typeface="Times New Roman" panose="02020603050405020304" pitchFamily="18" charset="0"/>
                <a:cs typeface="Times New Roman" panose="02020603050405020304" pitchFamily="18" charset="0"/>
              </a:rPr>
              <a:t>MODULE LIST</a:t>
            </a:r>
            <a:endParaRPr lang="en-US" sz="54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52095" y="1825625"/>
            <a:ext cx="11101705" cy="4351655"/>
          </a:xfrm>
        </p:spPr>
        <p:txBody>
          <a:bodyPr/>
          <a:p>
            <a:pPr marL="0" indent="0">
              <a:buNone/>
            </a:pPr>
            <a:r>
              <a:rPr lang="en-US" altLang="en-US"/>
              <a:t>I. Graphical User Interface (GUI) Module</a:t>
            </a:r>
            <a:endParaRPr lang="en-US" altLang="en-US"/>
          </a:p>
          <a:p>
            <a:pPr marL="0" indent="0">
              <a:buNone/>
            </a:pPr>
            <a:r>
              <a:rPr lang="en-US" altLang="en-US"/>
              <a:t>➢ Collects server IP address and port</a:t>
            </a:r>
            <a:endParaRPr lang="en-US" altLang="en-US"/>
          </a:p>
          <a:p>
            <a:pPr marL="0" indent="0">
              <a:buNone/>
            </a:pPr>
            <a:r>
              <a:rPr lang="en-US" altLang="en-US"/>
              <a:t>➢ Accepts username and password inputs</a:t>
            </a:r>
            <a:endParaRPr lang="en-US" altLang="en-US"/>
          </a:p>
          <a:p>
            <a:pPr marL="0" indent="0">
              <a:buNone/>
            </a:pPr>
            <a:r>
              <a:rPr lang="en-US" altLang="en-US"/>
              <a:t>➢ Displays contacts list and chat window</a:t>
            </a:r>
            <a:endParaRPr lang="en-US" altLang="en-US"/>
          </a:p>
          <a:p>
            <a:pPr marL="0" indent="0">
              <a:buNone/>
            </a:pPr>
            <a:r>
              <a:rPr lang="en-US" altLang="en-US"/>
              <a:t>II. Client Authentication Module</a:t>
            </a:r>
            <a:endParaRPr lang="en-US" altLang="en-US"/>
          </a:p>
          <a:p>
            <a:pPr marL="0" indent="0">
              <a:buNone/>
            </a:pPr>
            <a:r>
              <a:rPr lang="en-US" altLang="en-US"/>
              <a:t>➢ Validates user credentials</a:t>
            </a:r>
            <a:endParaRPr lang="en-US" altLang="en-US"/>
          </a:p>
          <a:p>
            <a:pPr marL="0" indent="0">
              <a:buNone/>
            </a:pPr>
            <a:r>
              <a:rPr lang="en-US" altLang="en-US"/>
              <a:t>➢ Establishes trusted client identity</a:t>
            </a:r>
            <a:endParaRPr lang="en-US" altLang="en-US"/>
          </a:p>
          <a:p>
            <a:pPr marL="0" indent="0">
              <a:buNone/>
            </a:pPr>
            <a:r>
              <a:rPr lang="en-US" altLang="en-US"/>
              <a:t>➢ Prevents unauthorized access</a:t>
            </a:r>
            <a:endParaRPr lang="en-US" altLang="en-US"/>
          </a:p>
        </p:txBody>
      </p:sp>
      <p:pic>
        <p:nvPicPr>
          <p:cNvPr id="7" name="Picture 8"/>
          <p:cNvPicPr>
            <a:picLocks noChangeAspect="1"/>
          </p:cNvPicPr>
          <p:nvPr/>
        </p:nvPicPr>
        <p:blipFill>
          <a:blip r:embed="rId1">
            <a:lum contrast="20000"/>
          </a:blip>
          <a:stretch>
            <a:fillRect/>
          </a:stretch>
        </p:blipFill>
        <p:spPr>
          <a:xfrm>
            <a:off x="10965180" y="433705"/>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252730" y="365125"/>
            <a:ext cx="1152525" cy="114046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ym typeface="+mn-ea"/>
              </a:rPr>
              <a:t>               </a:t>
            </a:r>
            <a:r>
              <a:rPr lang="en-US" b="1">
                <a:latin typeface="Times New Roman" panose="02020603050405020304" pitchFamily="18" charset="0"/>
                <a:cs typeface="Times New Roman" panose="02020603050405020304" pitchFamily="18" charset="0"/>
                <a:sym typeface="+mn-ea"/>
              </a:rPr>
              <a:t>     MODULE LIST</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2095" y="1825625"/>
            <a:ext cx="11101705" cy="4351655"/>
          </a:xfrm>
        </p:spPr>
        <p:txBody>
          <a:bodyPr/>
          <a:p>
            <a:pPr marL="0" indent="0">
              <a:buNone/>
            </a:pPr>
            <a:r>
              <a:rPr lang="en-US" altLang="en-US"/>
              <a:t>VII. Contacts Management Module</a:t>
            </a:r>
            <a:endParaRPr lang="en-US" altLang="en-US"/>
          </a:p>
          <a:p>
            <a:pPr marL="0" indent="0">
              <a:buNone/>
            </a:pPr>
            <a:r>
              <a:rPr lang="en-US" altLang="en-US"/>
              <a:t>➢ Stores unique communication partners</a:t>
            </a:r>
            <a:endParaRPr lang="en-US" altLang="en-US"/>
          </a:p>
          <a:p>
            <a:pPr marL="0" indent="0">
              <a:buNone/>
            </a:pPr>
            <a:r>
              <a:rPr lang="en-US" altLang="en-US"/>
              <a:t>➢ Enables quick chat switching</a:t>
            </a:r>
            <a:endParaRPr lang="en-US" altLang="en-US"/>
          </a:p>
          <a:p>
            <a:pPr marL="0" indent="0">
              <a:buNone/>
            </a:pPr>
            <a:r>
              <a:rPr lang="en-US" altLang="en-US"/>
              <a:t>➢ Synchronizes chat history with contacts</a:t>
            </a:r>
            <a:endParaRPr lang="en-US" altLang="en-US"/>
          </a:p>
          <a:p>
            <a:pPr marL="0" indent="0">
              <a:buNone/>
            </a:pPr>
            <a:r>
              <a:rPr lang="en-US" altLang="en-US"/>
              <a:t>VIII. Message Decryption &amp; Integrity Verification Module</a:t>
            </a:r>
            <a:endParaRPr lang="en-US" altLang="en-US"/>
          </a:p>
          <a:p>
            <a:pPr marL="0" indent="0">
              <a:buNone/>
            </a:pPr>
            <a:r>
              <a:rPr lang="en-US" altLang="en-US"/>
              <a:t>➢ Decrypts messages using AES-256</a:t>
            </a:r>
            <a:endParaRPr lang="en-US" altLang="en-US"/>
          </a:p>
          <a:p>
            <a:pPr marL="0" indent="0">
              <a:buNone/>
            </a:pPr>
            <a:r>
              <a:rPr lang="en-US" altLang="en-US"/>
              <a:t>➢ Verifies integrity using cryptographic checks (HMAC/GCM)</a:t>
            </a:r>
            <a:endParaRPr lang="en-US" altLang="en-US"/>
          </a:p>
          <a:p>
            <a:pPr marL="0" indent="0">
              <a:buNone/>
            </a:pPr>
            <a:r>
              <a:rPr lang="en-US" altLang="en-US"/>
              <a:t>➢ Prevents message tampering</a:t>
            </a:r>
            <a:endParaRPr lang="en-US" altLang="en-US"/>
          </a:p>
        </p:txBody>
      </p:sp>
      <p:pic>
        <p:nvPicPr>
          <p:cNvPr id="7" name="Picture 8"/>
          <p:cNvPicPr>
            <a:picLocks noChangeAspect="1"/>
          </p:cNvPicPr>
          <p:nvPr/>
        </p:nvPicPr>
        <p:blipFill>
          <a:blip r:embed="rId1">
            <a:lum contrast="20000"/>
          </a:blip>
          <a:stretch>
            <a:fillRect/>
          </a:stretch>
        </p:blipFill>
        <p:spPr>
          <a:xfrm>
            <a:off x="11115675" y="501650"/>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252730" y="365125"/>
            <a:ext cx="1152525" cy="114046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ym typeface="+mn-ea"/>
              </a:rPr>
              <a:t>                  </a:t>
            </a:r>
            <a:r>
              <a:rPr lang="en-US" b="1">
                <a:latin typeface="Times New Roman" panose="02020603050405020304" pitchFamily="18" charset="0"/>
                <a:cs typeface="Times New Roman" panose="02020603050405020304" pitchFamily="18" charset="0"/>
                <a:sym typeface="+mn-ea"/>
              </a:rPr>
              <a:t>  MODULE LIST</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2095" y="1825625"/>
            <a:ext cx="11101705" cy="4351655"/>
          </a:xfrm>
        </p:spPr>
        <p:txBody>
          <a:bodyPr/>
          <a:p>
            <a:pPr marL="0" indent="0">
              <a:buNone/>
            </a:pPr>
            <a:r>
              <a:rPr lang="en-US" altLang="en-US"/>
              <a:t>III. Secure Transport Layer Module (SSH)</a:t>
            </a:r>
            <a:endParaRPr lang="en-US" altLang="en-US"/>
          </a:p>
          <a:p>
            <a:pPr marL="0" indent="0">
              <a:buNone/>
            </a:pPr>
            <a:r>
              <a:rPr lang="en-US" altLang="en-US"/>
              <a:t>➢ Encrypts all client-server communication</a:t>
            </a:r>
            <a:endParaRPr lang="en-US" altLang="en-US"/>
          </a:p>
          <a:p>
            <a:pPr marL="0" indent="0">
              <a:buNone/>
            </a:pPr>
            <a:r>
              <a:rPr lang="en-US" altLang="en-US"/>
              <a:t>➢ Ensures data confidentiality and integrity</a:t>
            </a:r>
            <a:endParaRPr lang="en-US" altLang="en-US"/>
          </a:p>
          <a:p>
            <a:pPr marL="0" indent="0">
              <a:buNone/>
            </a:pPr>
            <a:r>
              <a:rPr lang="en-US" altLang="en-US"/>
              <a:t>➢ Prevents network-level attacks</a:t>
            </a:r>
            <a:endParaRPr lang="en-US" altLang="en-US"/>
          </a:p>
          <a:p>
            <a:pPr marL="0" indent="0">
              <a:buNone/>
            </a:pPr>
            <a:r>
              <a:rPr lang="en-US" altLang="en-US"/>
              <a:t>IV. RSA Key Exchange &amp; Identity Module</a:t>
            </a:r>
            <a:endParaRPr lang="en-US" altLang="en-US"/>
          </a:p>
          <a:p>
            <a:pPr marL="0" indent="0">
              <a:buNone/>
            </a:pPr>
            <a:r>
              <a:rPr lang="en-US" altLang="en-US"/>
              <a:t>➢ Exchanges public keys securely</a:t>
            </a:r>
            <a:endParaRPr lang="en-US" altLang="en-US"/>
          </a:p>
          <a:p>
            <a:pPr marL="0" indent="0">
              <a:buNone/>
            </a:pPr>
            <a:r>
              <a:rPr lang="en-US" altLang="en-US"/>
              <a:t>➢ Encrypts AES session keys using RSA</a:t>
            </a:r>
            <a:endParaRPr lang="en-US" altLang="en-US"/>
          </a:p>
          <a:p>
            <a:pPr marL="0" indent="0">
              <a:buNone/>
            </a:pPr>
            <a:r>
              <a:rPr lang="en-US" altLang="en-US"/>
              <a:t>➢ Prevents key interception attacks</a:t>
            </a:r>
            <a:endParaRPr lang="en-US" altLang="en-US"/>
          </a:p>
        </p:txBody>
      </p:sp>
      <p:pic>
        <p:nvPicPr>
          <p:cNvPr id="7" name="Picture 8"/>
          <p:cNvPicPr>
            <a:picLocks noChangeAspect="1"/>
          </p:cNvPicPr>
          <p:nvPr/>
        </p:nvPicPr>
        <p:blipFill>
          <a:blip r:embed="rId1">
            <a:lum contrast="20000"/>
          </a:blip>
          <a:stretch>
            <a:fillRect/>
          </a:stretch>
        </p:blipFill>
        <p:spPr>
          <a:xfrm>
            <a:off x="11024870" y="281940"/>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252730" y="365125"/>
            <a:ext cx="1152525" cy="114046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ym typeface="+mn-ea"/>
              </a:rPr>
              <a:t>                    </a:t>
            </a:r>
            <a:r>
              <a:rPr lang="en-US" b="1">
                <a:latin typeface="Times New Roman" panose="02020603050405020304" pitchFamily="18" charset="0"/>
                <a:cs typeface="Times New Roman" panose="02020603050405020304" pitchFamily="18" charset="0"/>
                <a:sym typeface="+mn-ea"/>
              </a:rPr>
              <a:t>MODULE LIST</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2095" y="1825625"/>
            <a:ext cx="11101705" cy="4351655"/>
          </a:xfrm>
        </p:spPr>
        <p:txBody>
          <a:bodyPr/>
          <a:p>
            <a:pPr marL="0" indent="0">
              <a:buNone/>
            </a:pPr>
            <a:r>
              <a:rPr lang="en-US" altLang="en-US"/>
              <a:t>V. AES-256 Message Encryption Module</a:t>
            </a:r>
            <a:endParaRPr lang="en-US" altLang="en-US"/>
          </a:p>
          <a:p>
            <a:pPr marL="0" indent="0">
              <a:buNone/>
            </a:pPr>
            <a:r>
              <a:rPr lang="en-US" altLang="en-US"/>
              <a:t>➢ Encrypts messages using AES-256</a:t>
            </a:r>
            <a:endParaRPr lang="en-US" altLang="en-US"/>
          </a:p>
          <a:p>
            <a:pPr marL="0" indent="0">
              <a:buNone/>
            </a:pPr>
            <a:r>
              <a:rPr lang="en-US" altLang="en-US"/>
              <a:t>➢ Uses secure modes (GCM/CBC) with IVs</a:t>
            </a:r>
            <a:endParaRPr lang="en-US" altLang="en-US"/>
          </a:p>
          <a:p>
            <a:pPr marL="0" indent="0">
              <a:buNone/>
            </a:pPr>
            <a:r>
              <a:rPr lang="en-US" altLang="en-US"/>
              <a:t>➢ Ensures confidentiality of message content</a:t>
            </a:r>
            <a:endParaRPr lang="en-US" altLang="en-US"/>
          </a:p>
          <a:p>
            <a:pPr marL="0" indent="0">
              <a:buNone/>
            </a:pPr>
            <a:r>
              <a:rPr lang="en-US" altLang="en-US"/>
              <a:t>VI. Message Routing &amp; Delivery Module</a:t>
            </a:r>
            <a:endParaRPr lang="en-US" altLang="en-US"/>
          </a:p>
          <a:p>
            <a:pPr marL="0" indent="0">
              <a:buNone/>
            </a:pPr>
            <a:r>
              <a:rPr lang="en-US" altLang="en-US"/>
              <a:t>➢ Routes messages to correct clients </a:t>
            </a:r>
            <a:endParaRPr lang="en-US" altLang="en-US"/>
          </a:p>
          <a:p>
            <a:pPr marL="0" indent="0">
              <a:buNone/>
            </a:pPr>
            <a:r>
              <a:rPr lang="en-US" altLang="en-US"/>
              <a:t>➢ Handles unavailable users gracefully</a:t>
            </a:r>
            <a:endParaRPr lang="en-US" altLang="en-US"/>
          </a:p>
          <a:p>
            <a:pPr marL="0" indent="0">
              <a:buNone/>
            </a:pPr>
            <a:r>
              <a:rPr lang="en-US" altLang="en-US"/>
              <a:t>➢ Ensures accurate message delivery</a:t>
            </a:r>
            <a:endParaRPr lang="en-US" altLang="en-US"/>
          </a:p>
        </p:txBody>
      </p:sp>
      <p:pic>
        <p:nvPicPr>
          <p:cNvPr id="7" name="Picture 8"/>
          <p:cNvPicPr>
            <a:picLocks noChangeAspect="1"/>
          </p:cNvPicPr>
          <p:nvPr/>
        </p:nvPicPr>
        <p:blipFill>
          <a:blip r:embed="rId1">
            <a:lum contrast="20000"/>
          </a:blip>
          <a:stretch>
            <a:fillRect/>
          </a:stretch>
        </p:blipFill>
        <p:spPr>
          <a:xfrm>
            <a:off x="11024870" y="281940"/>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252730" y="365125"/>
            <a:ext cx="1152525" cy="114046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ym typeface="+mn-ea"/>
              </a:rPr>
              <a:t>		         </a:t>
            </a:r>
            <a:r>
              <a:rPr lang="en-US" b="1">
                <a:latin typeface="Times New Roman" panose="02020603050405020304" pitchFamily="18" charset="0"/>
                <a:cs typeface="Times New Roman" panose="02020603050405020304" pitchFamily="18" charset="0"/>
                <a:sym typeface="+mn-ea"/>
              </a:rPr>
              <a:t>MODULE LIST</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2095" y="1825625"/>
            <a:ext cx="11101705" cy="4351655"/>
          </a:xfrm>
        </p:spPr>
        <p:txBody>
          <a:bodyPr/>
          <a:p>
            <a:r>
              <a:rPr lang="en-US" altLang="en-US"/>
              <a:t>IX. Multithreading &amp; Asynchronous Communication Module</a:t>
            </a:r>
            <a:endParaRPr lang="en-US" altLang="en-US"/>
          </a:p>
          <a:p>
            <a:pPr marL="0" indent="0">
              <a:buNone/>
            </a:pPr>
            <a:r>
              <a:rPr lang="en-US" altLang="en-US"/>
              <a:t>➢ Supports multiple simultaneous clients</a:t>
            </a:r>
            <a:endParaRPr lang="en-US" altLang="en-US"/>
          </a:p>
          <a:p>
            <a:pPr marL="0" indent="0">
              <a:buNone/>
            </a:pPr>
            <a:r>
              <a:rPr lang="en-US" altLang="en-US"/>
              <a:t>➢ Enables background message reception</a:t>
            </a:r>
            <a:endParaRPr lang="en-US" altLang="en-US"/>
          </a:p>
          <a:p>
            <a:pPr marL="0" indent="0">
              <a:buNone/>
            </a:pPr>
            <a:r>
              <a:rPr lang="en-US" altLang="en-US"/>
              <a:t>➢ Prevents GUI freezing</a:t>
            </a:r>
            <a:endParaRPr lang="en-US" altLang="en-US"/>
          </a:p>
          <a:p>
            <a:pPr marL="0" indent="0">
              <a:buNone/>
            </a:pPr>
            <a:r>
              <a:rPr lang="en-US" altLang="en-US"/>
              <a:t>X. Server Session Management Module</a:t>
            </a:r>
            <a:endParaRPr lang="en-US" altLang="en-US"/>
          </a:p>
          <a:p>
            <a:pPr marL="0" indent="0">
              <a:buNone/>
            </a:pPr>
            <a:r>
              <a:rPr lang="en-US" altLang="en-US"/>
              <a:t>➢ Maintains session-channel mapping</a:t>
            </a:r>
            <a:endParaRPr lang="en-US" altLang="en-US"/>
          </a:p>
          <a:p>
            <a:pPr marL="0" indent="0">
              <a:buNone/>
            </a:pPr>
            <a:r>
              <a:rPr lang="en-US" altLang="en-US"/>
              <a:t>➢ Handles client join and disconnect events</a:t>
            </a:r>
            <a:endParaRPr lang="en-US" altLang="en-US"/>
          </a:p>
          <a:p>
            <a:pPr marL="0" indent="0">
              <a:buNone/>
            </a:pPr>
            <a:r>
              <a:rPr lang="en-US" altLang="en-US"/>
              <a:t>➢ Ensures session consistency</a:t>
            </a:r>
            <a:endParaRPr lang="en-US" altLang="en-US"/>
          </a:p>
        </p:txBody>
      </p:sp>
      <p:pic>
        <p:nvPicPr>
          <p:cNvPr id="7" name="Picture 8"/>
          <p:cNvPicPr>
            <a:picLocks noChangeAspect="1"/>
          </p:cNvPicPr>
          <p:nvPr/>
        </p:nvPicPr>
        <p:blipFill>
          <a:blip r:embed="rId1">
            <a:lum contrast="20000"/>
          </a:blip>
          <a:stretch>
            <a:fillRect/>
          </a:stretch>
        </p:blipFill>
        <p:spPr>
          <a:xfrm>
            <a:off x="11024870" y="281940"/>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252730" y="365125"/>
            <a:ext cx="1152525" cy="114046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ym typeface="+mn-ea"/>
              </a:rPr>
              <a:t>			      </a:t>
            </a:r>
            <a:r>
              <a:rPr lang="en-US" b="1">
                <a:latin typeface="Times New Roman" panose="02020603050405020304" pitchFamily="18" charset="0"/>
                <a:cs typeface="Times New Roman" panose="02020603050405020304" pitchFamily="18" charset="0"/>
                <a:sym typeface="+mn-ea"/>
              </a:rPr>
              <a:t>MODULE LIST</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2730" y="1825625"/>
            <a:ext cx="11101070" cy="4351655"/>
          </a:xfrm>
        </p:spPr>
        <p:txBody>
          <a:bodyPr>
            <a:normAutofit lnSpcReduction="10000"/>
          </a:bodyPr>
          <a:p>
            <a:pPr marL="0" indent="0">
              <a:buNone/>
            </a:pPr>
            <a:r>
              <a:rPr lang="en-US" altLang="en-US"/>
              <a:t>XI. Error Handling &amp; System Notification Module</a:t>
            </a:r>
            <a:endParaRPr lang="en-US" altLang="en-US"/>
          </a:p>
          <a:p>
            <a:pPr marL="0" indent="0">
              <a:buNone/>
            </a:pPr>
            <a:r>
              <a:rPr lang="en-US" altLang="en-US"/>
              <a:t>  ➢ Handles connection and authentication errors</a:t>
            </a:r>
            <a:endParaRPr lang="en-US" altLang="en-US"/>
          </a:p>
          <a:p>
            <a:pPr marL="0" indent="0">
              <a:buNone/>
            </a:pPr>
            <a:r>
              <a:rPr lang="en-US" altLang="en-US"/>
              <a:t>  ➢ Detects encryption/decryption failures</a:t>
            </a:r>
            <a:endParaRPr lang="en-US" altLang="en-US"/>
          </a:p>
          <a:p>
            <a:pPr marL="0" indent="0">
              <a:buNone/>
            </a:pPr>
            <a:r>
              <a:rPr lang="en-US" altLang="en-US"/>
              <a:t>  ➢ Displays system notifications</a:t>
            </a:r>
            <a:endParaRPr lang="en-US" altLang="en-US"/>
          </a:p>
          <a:p>
            <a:pPr marL="0" indent="0">
              <a:buNone/>
            </a:pPr>
            <a:r>
              <a:rPr lang="en-US" altLang="en-US"/>
              <a:t>XII. Resource Cleanup &amp; Secure Session Termination Module </a:t>
            </a:r>
            <a:endParaRPr lang="en-US" altLang="en-US"/>
          </a:p>
          <a:p>
            <a:pPr marL="0" indent="0">
              <a:buNone/>
            </a:pPr>
            <a:r>
              <a:rPr lang="en-US" altLang="en-US"/>
              <a:t>  ➢ Closes SSH channels securely</a:t>
            </a:r>
            <a:endParaRPr lang="en-US" altLang="en-US"/>
          </a:p>
          <a:p>
            <a:pPr marL="0" indent="0">
              <a:buNone/>
            </a:pPr>
            <a:r>
              <a:rPr lang="en-US" altLang="en-US"/>
              <a:t>  ➢ Clears cryptographic keys from memory</a:t>
            </a:r>
            <a:endParaRPr lang="en-US" altLang="en-US"/>
          </a:p>
          <a:p>
            <a:pPr marL="0" indent="0">
              <a:buNone/>
            </a:pPr>
            <a:r>
              <a:rPr lang="en-US" altLang="en-US"/>
              <a:t>  ➢ Terminates threads safely</a:t>
            </a:r>
            <a:endParaRPr lang="en-US" altLang="en-US"/>
          </a:p>
          <a:p>
            <a:pPr marL="0" indent="0">
              <a:buNone/>
            </a:pPr>
            <a:r>
              <a:rPr lang="en-US" altLang="en-US"/>
              <a:t>  ➢ Ensures graceful shutdown</a:t>
            </a:r>
            <a:endParaRPr lang="en-US" altLang="en-US"/>
          </a:p>
        </p:txBody>
      </p:sp>
      <p:pic>
        <p:nvPicPr>
          <p:cNvPr id="7" name="Picture 8"/>
          <p:cNvPicPr>
            <a:picLocks noChangeAspect="1"/>
          </p:cNvPicPr>
          <p:nvPr/>
        </p:nvPicPr>
        <p:blipFill>
          <a:blip r:embed="rId1">
            <a:lum contrast="20000"/>
          </a:blip>
          <a:stretch>
            <a:fillRect/>
          </a:stretch>
        </p:blipFill>
        <p:spPr>
          <a:xfrm>
            <a:off x="11024870" y="281940"/>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252730" y="365125"/>
            <a:ext cx="1152525" cy="114046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b="1" dirty="0">
                <a:solidFill>
                  <a:srgbClr val="000000"/>
                </a:solidFill>
                <a:latin typeface="Times New Roman" panose="02020603050405020304" pitchFamily="18" charset="0"/>
                <a:cs typeface="Times New Roman" panose="02020603050405020304" pitchFamily="18" charset="0"/>
                <a:sym typeface="+mn-ea"/>
              </a:rPr>
              <a:t>SYSTEM REQUIREMENTS</a:t>
            </a:r>
            <a:endParaRPr lang="en-US"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52730" y="1825625"/>
            <a:ext cx="11785600" cy="4886960"/>
          </a:xfrm>
        </p:spPr>
        <p:txBody>
          <a:bodyPr>
            <a:noAutofit/>
          </a:bodyPr>
          <a:p>
            <a:r>
              <a:rPr lang="en-IN" sz="2500" b="1" dirty="0">
                <a:latin typeface="Times New Roman" panose="02020603050405020304" pitchFamily="18" charset="0"/>
                <a:cs typeface="Times New Roman" panose="02020603050405020304" pitchFamily="18" charset="0"/>
                <a:sym typeface="+mn-ea"/>
              </a:rPr>
              <a:t>HARDWARE REQUIREMENTS</a:t>
            </a:r>
            <a:endParaRPr lang="en-IN" sz="2500" b="1" dirty="0">
              <a:latin typeface="Times New Roman" panose="02020603050405020304" pitchFamily="18" charset="0"/>
              <a:cs typeface="Times New Roman" panose="02020603050405020304" pitchFamily="18" charset="0"/>
            </a:endParaRPr>
          </a:p>
          <a:p>
            <a:pPr marL="0" indent="0">
              <a:buNone/>
            </a:pPr>
            <a:r>
              <a:rPr lang="en-IN" sz="2500" dirty="0">
                <a:latin typeface="Times New Roman" panose="02020603050405020304" pitchFamily="18" charset="0"/>
                <a:cs typeface="Times New Roman" panose="02020603050405020304" pitchFamily="18" charset="0"/>
                <a:sym typeface="+mn-ea"/>
              </a:rPr>
              <a:t>• Processor: Intel i3 / i5 or equivalent</a:t>
            </a:r>
            <a:br>
              <a:rPr lang="en-IN" sz="2500" dirty="0">
                <a:latin typeface="Times New Roman" panose="02020603050405020304" pitchFamily="18" charset="0"/>
                <a:cs typeface="Times New Roman" panose="02020603050405020304" pitchFamily="18" charset="0"/>
                <a:sym typeface="+mn-ea"/>
              </a:rPr>
            </a:br>
            <a:r>
              <a:rPr lang="en-IN" sz="2500" dirty="0">
                <a:latin typeface="Times New Roman" panose="02020603050405020304" pitchFamily="18" charset="0"/>
                <a:cs typeface="Times New Roman" panose="02020603050405020304" pitchFamily="18" charset="0"/>
                <a:sym typeface="+mn-ea"/>
              </a:rPr>
              <a:t>• RAM: Minimum 4 GB (8 GB recommended)</a:t>
            </a:r>
            <a:br>
              <a:rPr lang="en-IN" sz="2500" dirty="0">
                <a:latin typeface="Times New Roman" panose="02020603050405020304" pitchFamily="18" charset="0"/>
                <a:cs typeface="Times New Roman" panose="02020603050405020304" pitchFamily="18" charset="0"/>
                <a:sym typeface="+mn-ea"/>
              </a:rPr>
            </a:br>
            <a:r>
              <a:rPr lang="en-IN" sz="2500" dirty="0">
                <a:latin typeface="Times New Roman" panose="02020603050405020304" pitchFamily="18" charset="0"/>
                <a:cs typeface="Times New Roman" panose="02020603050405020304" pitchFamily="18" charset="0"/>
                <a:sym typeface="+mn-ea"/>
              </a:rPr>
              <a:t>• Storage: Minimum 20 GB free space</a:t>
            </a:r>
            <a:br>
              <a:rPr lang="en-IN" sz="2500" dirty="0">
                <a:latin typeface="Times New Roman" panose="02020603050405020304" pitchFamily="18" charset="0"/>
                <a:cs typeface="Times New Roman" panose="02020603050405020304" pitchFamily="18" charset="0"/>
                <a:sym typeface="+mn-ea"/>
              </a:rPr>
            </a:br>
            <a:r>
              <a:rPr lang="en-IN" sz="2500" dirty="0">
                <a:latin typeface="Times New Roman" panose="02020603050405020304" pitchFamily="18" charset="0"/>
                <a:cs typeface="Times New Roman" panose="02020603050405020304" pitchFamily="18" charset="0"/>
                <a:sym typeface="+mn-ea"/>
              </a:rPr>
              <a:t>• System Type: 64-bit machine</a:t>
            </a:r>
            <a:endParaRPr lang="en-IN" sz="2500" dirty="0">
              <a:latin typeface="Times New Roman" panose="02020603050405020304" pitchFamily="18" charset="0"/>
              <a:cs typeface="Times New Roman" panose="02020603050405020304" pitchFamily="18" charset="0"/>
            </a:endParaRPr>
          </a:p>
          <a:p>
            <a:pPr marL="0" indent="0">
              <a:buNone/>
            </a:pPr>
            <a:endParaRPr lang="en-IN" sz="2500" dirty="0">
              <a:latin typeface="Times New Roman" panose="02020603050405020304" pitchFamily="18" charset="0"/>
              <a:cs typeface="Times New Roman" panose="02020603050405020304" pitchFamily="18" charset="0"/>
            </a:endParaRPr>
          </a:p>
          <a:p>
            <a:r>
              <a:rPr lang="en-IN" sz="2500" b="1" dirty="0">
                <a:latin typeface="Times New Roman" panose="02020603050405020304" pitchFamily="18" charset="0"/>
                <a:cs typeface="Times New Roman" panose="02020603050405020304" pitchFamily="18" charset="0"/>
                <a:sym typeface="+mn-ea"/>
              </a:rPr>
              <a:t>SOFTWARE REQUIREMENTS</a:t>
            </a:r>
            <a:endParaRPr lang="en-IN" sz="2500" b="1" dirty="0">
              <a:latin typeface="Times New Roman" panose="02020603050405020304" pitchFamily="18" charset="0"/>
              <a:cs typeface="Times New Roman" panose="02020603050405020304" pitchFamily="18" charset="0"/>
            </a:endParaRPr>
          </a:p>
          <a:p>
            <a:pPr marL="0" indent="0">
              <a:buNone/>
            </a:pPr>
            <a:r>
              <a:rPr lang="en-IN" sz="2500" dirty="0">
                <a:latin typeface="Times New Roman" panose="02020603050405020304" pitchFamily="18" charset="0"/>
                <a:cs typeface="Times New Roman" panose="02020603050405020304" pitchFamily="18" charset="0"/>
                <a:sym typeface="+mn-ea"/>
              </a:rPr>
              <a:t>• Operating System: Windows 10 / 11, Linux, or macOS</a:t>
            </a:r>
            <a:br>
              <a:rPr lang="en-IN" sz="2500" dirty="0">
                <a:latin typeface="Times New Roman" panose="02020603050405020304" pitchFamily="18" charset="0"/>
                <a:cs typeface="Times New Roman" panose="02020603050405020304" pitchFamily="18" charset="0"/>
                <a:sym typeface="+mn-ea"/>
              </a:rPr>
            </a:br>
            <a:r>
              <a:rPr lang="en-IN" sz="2500" dirty="0">
                <a:latin typeface="Times New Roman" panose="02020603050405020304" pitchFamily="18" charset="0"/>
                <a:cs typeface="Times New Roman" panose="02020603050405020304" pitchFamily="18" charset="0"/>
                <a:sym typeface="+mn-ea"/>
              </a:rPr>
              <a:t>• Programming Languages: Python (3.x)</a:t>
            </a:r>
            <a:br>
              <a:rPr lang="en-IN" sz="2500" dirty="0">
                <a:latin typeface="Times New Roman" panose="02020603050405020304" pitchFamily="18" charset="0"/>
                <a:cs typeface="Times New Roman" panose="02020603050405020304" pitchFamily="18" charset="0"/>
                <a:sym typeface="+mn-ea"/>
              </a:rPr>
            </a:br>
            <a:r>
              <a:rPr lang="en-IN" sz="2500" dirty="0">
                <a:latin typeface="Times New Roman" panose="02020603050405020304" pitchFamily="18" charset="0"/>
                <a:cs typeface="Times New Roman" panose="02020603050405020304" pitchFamily="18" charset="0"/>
                <a:sym typeface="+mn-ea"/>
              </a:rPr>
              <a:t>• Development Environment: VS Code </a:t>
            </a:r>
            <a:r>
              <a:rPr lang="en-US" altLang="en-IN" sz="2500" dirty="0">
                <a:latin typeface="Times New Roman" panose="02020603050405020304" pitchFamily="18" charset="0"/>
                <a:cs typeface="Times New Roman" panose="02020603050405020304" pitchFamily="18" charset="0"/>
                <a:sym typeface="+mn-ea"/>
              </a:rPr>
              <a:t>,any IDE</a:t>
            </a:r>
            <a:br>
              <a:rPr lang="en-IN" sz="2500" dirty="0">
                <a:latin typeface="Times New Roman" panose="02020603050405020304" pitchFamily="18" charset="0"/>
                <a:cs typeface="Times New Roman" panose="02020603050405020304" pitchFamily="18" charset="0"/>
                <a:sym typeface="+mn-ea"/>
              </a:rPr>
            </a:br>
            <a:r>
              <a:rPr lang="en-IN" sz="2500" dirty="0">
                <a:latin typeface="Times New Roman" panose="02020603050405020304" pitchFamily="18" charset="0"/>
                <a:cs typeface="Times New Roman" panose="02020603050405020304" pitchFamily="18" charset="0"/>
                <a:sym typeface="+mn-ea"/>
              </a:rPr>
              <a:t>• </a:t>
            </a:r>
            <a:r>
              <a:rPr lang="en-US" altLang="en-IN" sz="2500" dirty="0">
                <a:latin typeface="Times New Roman" panose="02020603050405020304" pitchFamily="18" charset="0"/>
                <a:cs typeface="Times New Roman" panose="02020603050405020304" pitchFamily="18" charset="0"/>
                <a:sym typeface="+mn-ea"/>
              </a:rPr>
              <a:t>Library:Tkinter</a:t>
            </a:r>
            <a:br>
              <a:rPr lang="en-IN" sz="2500" dirty="0">
                <a:latin typeface="Times New Roman" panose="02020603050405020304" pitchFamily="18" charset="0"/>
                <a:cs typeface="Times New Roman" panose="02020603050405020304" pitchFamily="18" charset="0"/>
                <a:sym typeface="+mn-ea"/>
              </a:rPr>
            </a:br>
            <a:r>
              <a:rPr lang="en-IN" sz="2500" dirty="0">
                <a:latin typeface="Times New Roman" panose="02020603050405020304" pitchFamily="18" charset="0"/>
                <a:cs typeface="Times New Roman" panose="02020603050405020304" pitchFamily="18" charset="0"/>
                <a:sym typeface="+mn-ea"/>
              </a:rPr>
              <a:t>• </a:t>
            </a:r>
            <a:r>
              <a:rPr lang="en-US" altLang="en-IN" sz="2500" dirty="0">
                <a:latin typeface="Times New Roman" panose="02020603050405020304" pitchFamily="18" charset="0"/>
                <a:cs typeface="Times New Roman" panose="02020603050405020304" pitchFamily="18" charset="0"/>
                <a:sym typeface="+mn-ea"/>
              </a:rPr>
              <a:t>Modules:hashlib</a:t>
            </a:r>
            <a:endParaRPr lang="en-US" altLang="en-IN" sz="2500" dirty="0">
              <a:latin typeface="Times New Roman" panose="02020603050405020304" pitchFamily="18" charset="0"/>
              <a:cs typeface="Times New Roman" panose="02020603050405020304" pitchFamily="18" charset="0"/>
              <a:sym typeface="+mn-ea"/>
            </a:endParaRPr>
          </a:p>
        </p:txBody>
      </p:sp>
      <p:pic>
        <p:nvPicPr>
          <p:cNvPr id="7" name="Picture 8"/>
          <p:cNvPicPr>
            <a:picLocks noChangeAspect="1"/>
          </p:cNvPicPr>
          <p:nvPr/>
        </p:nvPicPr>
        <p:blipFill>
          <a:blip r:embed="rId1">
            <a:lum contrast="20000"/>
          </a:blip>
          <a:stretch>
            <a:fillRect/>
          </a:stretch>
        </p:blipFill>
        <p:spPr>
          <a:xfrm>
            <a:off x="11024870" y="281940"/>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252730" y="365125"/>
            <a:ext cx="1152525" cy="114046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  			     </a:t>
            </a:r>
            <a:r>
              <a:rPr lang="en-US" sz="5000" b="1">
                <a:latin typeface="Times New Roman" panose="02020603050405020304" pitchFamily="18" charset="0"/>
                <a:cs typeface="Times New Roman" panose="02020603050405020304" pitchFamily="18" charset="0"/>
              </a:rPr>
              <a:t>CONCLUSION</a:t>
            </a:r>
            <a:endParaRPr lang="en-US" sz="50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0" y="1825625"/>
            <a:ext cx="11353800" cy="4351655"/>
          </a:xfrm>
        </p:spPr>
        <p:txBody>
          <a:bodyPr>
            <a:normAutofit fontScale="90000" lnSpcReduction="10000"/>
          </a:bodyPr>
          <a:p>
            <a:r>
              <a:rPr lang="en-US" altLang="en-US"/>
              <a:t>The project successfully demonstrates a secure network messenger using SSH to protect communication over untrusted networks.</a:t>
            </a:r>
            <a:endParaRPr lang="en-US" altLang="en-US"/>
          </a:p>
          <a:p>
            <a:endParaRPr lang="en-US" altLang="en-US"/>
          </a:p>
          <a:p>
            <a:r>
              <a:rPr lang="en-US" altLang="en-US"/>
              <a:t>By integrating RSA for key exchange and AES-256 for message encryption, the system ensures strong confidentiality and data integrity.</a:t>
            </a:r>
            <a:endParaRPr lang="en-US" altLang="en-US"/>
          </a:p>
          <a:p>
            <a:endParaRPr lang="en-US" altLang="en-US"/>
          </a:p>
          <a:p>
            <a:r>
              <a:rPr lang="en-US" altLang="en-US"/>
              <a:t>The use of layered security improves user anonymity and reduces the risk of interception and unauthorized access.</a:t>
            </a:r>
            <a:endParaRPr lang="en-US" altLang="en-US"/>
          </a:p>
          <a:p>
            <a:endParaRPr lang="en-US" altLang="en-US"/>
          </a:p>
          <a:p>
            <a:r>
              <a:rPr lang="en-US" altLang="en-US"/>
              <a:t>The proposed system provides a reliable foundation for secure, real-time communication and can be extended for advanced security features in the future.</a:t>
            </a:r>
            <a:endParaRPr lang="en-US" altLang="en-US"/>
          </a:p>
        </p:txBody>
      </p:sp>
      <p:pic>
        <p:nvPicPr>
          <p:cNvPr id="7" name="Picture 8"/>
          <p:cNvPicPr>
            <a:picLocks noChangeAspect="1"/>
          </p:cNvPicPr>
          <p:nvPr/>
        </p:nvPicPr>
        <p:blipFill>
          <a:blip r:embed="rId1">
            <a:lum contrast="20000"/>
          </a:blip>
          <a:stretch>
            <a:fillRect/>
          </a:stretch>
        </p:blipFill>
        <p:spPr>
          <a:xfrm>
            <a:off x="11024870" y="281940"/>
            <a:ext cx="1076325" cy="1189038"/>
          </a:xfrm>
          <a:prstGeom prst="rect">
            <a:avLst/>
          </a:prstGeom>
          <a:solidFill>
            <a:srgbClr val="002060"/>
          </a:solidFill>
          <a:ln w="9525">
            <a:noFill/>
          </a:ln>
        </p:spPr>
      </p:pic>
      <p:pic>
        <p:nvPicPr>
          <p:cNvPr id="11" name="Picture 4"/>
          <p:cNvPicPr>
            <a:picLocks noChangeAspect="1"/>
          </p:cNvPicPr>
          <p:nvPr/>
        </p:nvPicPr>
        <p:blipFill>
          <a:blip r:embed="rId2"/>
          <a:stretch>
            <a:fillRect/>
          </a:stretch>
        </p:blipFill>
        <p:spPr>
          <a:xfrm>
            <a:off x="372110" y="457835"/>
            <a:ext cx="1152525" cy="114046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1850" y="1710055"/>
            <a:ext cx="10515600" cy="2267585"/>
          </a:xfrm>
        </p:spPr>
        <p:txBody>
          <a:bodyPr/>
          <a:p>
            <a:r>
              <a:rPr lang="en-US" sz="12000">
                <a:latin typeface="Times New Roman" panose="02020603050405020304" pitchFamily="18" charset="0"/>
                <a:cs typeface="Times New Roman" panose="02020603050405020304" pitchFamily="18" charset="0"/>
              </a:rPr>
              <a:t>   THANK YOU</a:t>
            </a:r>
            <a:endParaRPr lang="en-US" sz="1200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idx="1"/>
          </p:nvPr>
        </p:nvSpPr>
        <p:spPr/>
        <p:txBody>
          <a:bodyPr/>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9233</Words>
  <Application>WPS Presentation</Application>
  <PresentationFormat>Widescreen</PresentationFormat>
  <Paragraphs>163</Paragraphs>
  <Slides>18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SimSun</vt:lpstr>
      <vt:lpstr>Wingdings</vt:lpstr>
      <vt:lpstr>Times New Roman</vt:lpstr>
      <vt:lpstr>Sans Serif Collection</vt:lpstr>
      <vt:lpstr>Calibri Light</vt:lpstr>
      <vt:lpstr>Calibri</vt:lpstr>
      <vt:lpstr>Microsoft YaHei</vt:lpstr>
      <vt:lpstr>Arial Unicode MS</vt:lpstr>
      <vt:lpstr>Office Theme</vt:lpstr>
      <vt:lpstr>Secure Network Messenger Using ssh for Improved Anonymity Project Review-1 </vt:lpstr>
      <vt:lpstr>                      Content Outline</vt:lpstr>
      <vt:lpstr>				ABSTRACT</vt:lpstr>
      <vt:lpstr>                         INTRODUCTION</vt:lpstr>
      <vt:lpstr>                 LITERATURE REVIEW  A Comprehensive End-to-End Solution for Web Security with  Cryptography,Multi-Factor Authentication, and Secure Communication Kanderi Johith Kumar,Kandlapalli Aravind Sai,Adapala Dharshan Reddy,Chithamreddy Pranay Diwik Reddy,Shinu M Rajagoapala </vt:lpstr>
      <vt:lpstr>                LITERATURE REVIEW</vt:lpstr>
      <vt:lpstr>		    LITERATURE REVIEW</vt:lpstr>
      <vt:lpstr>                LITERATURE REVIEW</vt:lpstr>
      <vt:lpstr>                    LITERATURE REVIEW</vt:lpstr>
      <vt:lpstr>                    MODULE LIST</vt:lpstr>
      <vt:lpstr>                    MODULE LIST</vt:lpstr>
      <vt:lpstr>                    MODULE LIST</vt:lpstr>
      <vt:lpstr>                    MODULE LIST</vt:lpstr>
      <vt:lpstr>		         MODULE LIST</vt:lpstr>
      <vt:lpstr>			      MODULE LIST</vt:lpstr>
      <vt:lpstr>SYSTEM REQUIREMENTS</vt:lpstr>
      <vt:lpstr>  			     CONCLUSION</vt:lpstr>
      <vt:lpstr>   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Aloysius Rosario</cp:lastModifiedBy>
  <cp:revision>23</cp:revision>
  <dcterms:created xsi:type="dcterms:W3CDTF">2025-07-23T00:59:00Z</dcterms:created>
  <dcterms:modified xsi:type="dcterms:W3CDTF">2026-02-19T06:08:54Z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1A30D1CDB70C449DB6C393EBDC9A87C6_13</vt:lpwstr>
  </property>
  <property fmtid="{D5CDD505-2E9C-101B-9397-08002B2CF9AE}" pid="3" name="KSOProductBuildVer">
    <vt:lpwstr>1033-12.2.0.23196</vt:lpwstr>
  </property>
</Properties>
</file>