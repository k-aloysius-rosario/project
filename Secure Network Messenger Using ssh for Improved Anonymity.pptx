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67" r:id="rId4"/>
    <p:sldId id="268" r:id="rId5"/>
    <p:sldId id="257" r:id="rId6"/>
    <p:sldId id="258" r:id="rId7"/>
    <p:sldId id="259" r:id="rId8"/>
    <p:sldId id="260" r:id="rId9"/>
    <p:sldId id="261" r:id="rId10"/>
    <p:sldId id="262" r:id="rId11"/>
    <p:sldId id="269" r:id="rId12"/>
    <p:sldId id="272" r:id="rId13"/>
    <p:sldId id="270" r:id="rId14"/>
    <p:sldId id="271" r:id="rId15"/>
    <p:sldId id="273" r:id="rId16"/>
    <p:sldId id="274" r:id="rId17"/>
    <p:sldId id="266" r:id="rId18"/>
    <p:sldId id="263" r:id="rId19"/>
    <p:sldId id="27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showGuides="1">
      <p:cViewPr varScale="1">
        <p:scale>
          <a:sx n="53" d="100"/>
          <a:sy n="53" d="100"/>
        </p:scale>
        <p:origin x="180" y="54"/>
      </p:cViewPr>
      <p:guideLst>
        <p:guide orient="horz" pos="2159"/>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image" Target="../media/image1.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65100"/>
            <a:ext cx="9144000" cy="1979930"/>
          </a:xfrm>
        </p:spPr>
        <p:txBody>
          <a:bodyPr>
            <a:normAutofit/>
          </a:bodyPr>
          <a:lstStyle/>
          <a:p>
            <a:r>
              <a:rPr lang="en-US" altLang="en-US" sz="4500" dirty="0">
                <a:solidFill>
                  <a:schemeClr val="tx1"/>
                </a:solidFill>
                <a:latin typeface="Times New Roman" panose="02020603050405020304" pitchFamily="18" charset="0"/>
                <a:cs typeface="Times New Roman" panose="02020603050405020304" pitchFamily="18" charset="0"/>
              </a:rPr>
              <a:t>Secure Network Messenger Using ssh for Improved Anonymity</a:t>
            </a:r>
            <a:br>
              <a:rPr lang="en-US" altLang="en-US" dirty="0">
                <a:solidFill>
                  <a:schemeClr val="tx1"/>
                </a:solidFill>
              </a:rPr>
            </a:br>
            <a:r>
              <a:rPr lang="en-US" altLang="en-US" sz="2665" b="1" dirty="0">
                <a:solidFill>
                  <a:schemeClr val="tx1"/>
                </a:solidFill>
                <a:latin typeface="Times New Roman" panose="02020603050405020304" pitchFamily="18" charset="0"/>
                <a:cs typeface="Times New Roman" panose="02020603050405020304" pitchFamily="18" charset="0"/>
              </a:rPr>
              <a:t>Project Review-1</a:t>
            </a:r>
            <a:r>
              <a:rPr lang="en-US" altLang="en-US" sz="2665" dirty="0">
                <a:solidFill>
                  <a:schemeClr val="tx1"/>
                </a:solidFill>
                <a:latin typeface="Times New Roman" panose="02020603050405020304" pitchFamily="18" charset="0"/>
                <a:cs typeface="Times New Roman" panose="02020603050405020304" pitchFamily="18" charset="0"/>
              </a:rPr>
              <a:t> </a:t>
            </a:r>
            <a:endParaRPr lang="en-US" altLang="en-US" sz="2665" dirty="0">
              <a:solidFill>
                <a:schemeClr val="tx1"/>
              </a:solidFill>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1524000" y="1814195"/>
            <a:ext cx="9144000" cy="4246880"/>
          </a:xfrm>
        </p:spPr>
        <p:txBody>
          <a:bodyPr>
            <a:noAutofit/>
          </a:bodyPr>
          <a:lstStyle/>
          <a:p>
            <a:r>
              <a:rPr lang="en-US" altLang="en-US" sz="2100" b="1" dirty="0">
                <a:solidFill>
                  <a:schemeClr val="tx1"/>
                </a:solidFill>
                <a:latin typeface="Times New Roman" panose="02020603050405020304" pitchFamily="18" charset="0"/>
                <a:cs typeface="Times New Roman" panose="02020603050405020304" pitchFamily="18" charset="0"/>
                <a:sym typeface="+mn-ea"/>
              </a:rPr>
              <a:t>DEPARTMENT OF CYBER SECURITY</a:t>
            </a:r>
            <a:endParaRPr lang="en-US" sz="2100">
              <a:solidFill>
                <a:schemeClr val="tx1"/>
              </a:solidFill>
            </a:endParaRPr>
          </a:p>
          <a:p>
            <a:r>
              <a:rPr lang="en-US" sz="2100">
                <a:solidFill>
                  <a:schemeClr val="tx1"/>
                </a:solidFill>
              </a:rPr>
              <a:t>Aloysius Rosario.K </a:t>
            </a:r>
            <a:r>
              <a:rPr lang="en-US" sz="2100">
                <a:solidFill>
                  <a:schemeClr val="tx1"/>
                </a:solidFill>
                <a:sym typeface="+mn-ea"/>
              </a:rPr>
              <a:t>(6113227711013)</a:t>
            </a:r>
            <a:endParaRPr lang="en-US" sz="2100">
              <a:solidFill>
                <a:schemeClr val="tx1"/>
              </a:solidFill>
            </a:endParaRPr>
          </a:p>
          <a:p>
            <a:r>
              <a:rPr lang="en-US" sz="2100">
                <a:solidFill>
                  <a:schemeClr val="tx1"/>
                </a:solidFill>
              </a:rPr>
              <a:t>Aasif Hameed.S      </a:t>
            </a:r>
            <a:r>
              <a:rPr lang="en-US" sz="2100">
                <a:solidFill>
                  <a:schemeClr val="tx1"/>
                </a:solidFill>
                <a:sym typeface="+mn-ea"/>
              </a:rPr>
              <a:t>(6113227711001)</a:t>
            </a:r>
            <a:endParaRPr lang="en-US" sz="2100">
              <a:solidFill>
                <a:schemeClr val="tx1"/>
              </a:solidFill>
            </a:endParaRPr>
          </a:p>
          <a:p>
            <a:r>
              <a:rPr lang="en-US" sz="2100">
                <a:solidFill>
                  <a:schemeClr val="tx1"/>
                </a:solidFill>
              </a:rPr>
              <a:t>Anbarasu.P              </a:t>
            </a:r>
            <a:r>
              <a:rPr lang="en-US" sz="2100">
                <a:solidFill>
                  <a:schemeClr val="tx1"/>
                </a:solidFill>
                <a:sym typeface="+mn-ea"/>
              </a:rPr>
              <a:t>(6113227711015)</a:t>
            </a:r>
            <a:endParaRPr lang="en-US" sz="2100">
              <a:solidFill>
                <a:schemeClr val="tx1"/>
              </a:solidFill>
            </a:endParaRPr>
          </a:p>
          <a:p>
            <a:r>
              <a:rPr lang="en-US" sz="2100">
                <a:solidFill>
                  <a:schemeClr val="tx1"/>
                </a:solidFill>
              </a:rPr>
              <a:t>Arunkumar.M         (6113227711019)</a:t>
            </a:r>
            <a:endParaRPr lang="en-US" sz="2100">
              <a:solidFill>
                <a:schemeClr val="tx1"/>
              </a:solidFill>
            </a:endParaRPr>
          </a:p>
          <a:p>
            <a:r>
              <a:rPr lang="en-US" sz="2100">
                <a:solidFill>
                  <a:schemeClr val="tx1"/>
                </a:solidFill>
              </a:rPr>
              <a:t>Under the Guidance of</a:t>
            </a:r>
            <a:endParaRPr lang="en-US" sz="2100">
              <a:solidFill>
                <a:schemeClr val="tx1"/>
              </a:solidFill>
            </a:endParaRPr>
          </a:p>
          <a:p>
            <a:r>
              <a:rPr lang="en-US" sz="2100" b="1">
                <a:solidFill>
                  <a:schemeClr val="tx1"/>
                </a:solidFill>
                <a:sym typeface="+mn-ea"/>
              </a:rPr>
              <a:t>Dr.Neelamadheswari</a:t>
            </a:r>
            <a:endParaRPr lang="en-US" sz="2100" b="1">
              <a:solidFill>
                <a:schemeClr val="tx1"/>
              </a:solidFill>
              <a:sym typeface="+mn-ea"/>
            </a:endParaRPr>
          </a:p>
          <a:p>
            <a:pPr algn="ctr" eaLnBrk="1" hangingPunct="1"/>
            <a:r>
              <a:rPr lang="en-US" altLang="en-US" sz="2100" dirty="0">
                <a:solidFill>
                  <a:schemeClr val="tx1"/>
                </a:solidFill>
                <a:latin typeface="Times New Roman" panose="02020603050405020304" pitchFamily="18" charset="0"/>
                <a:cs typeface="Times New Roman" panose="02020603050405020304" pitchFamily="18" charset="0"/>
                <a:sym typeface="+mn-ea"/>
              </a:rPr>
              <a:t>Asst.Professor, Department of Cyber Security Engineering</a:t>
            </a:r>
            <a:endParaRPr lang="en-US" altLang="en-US" sz="2100" dirty="0">
              <a:solidFill>
                <a:schemeClr val="tx1"/>
              </a:solidFill>
              <a:latin typeface="Times New Roman" panose="02020603050405020304" pitchFamily="18" charset="0"/>
              <a:cs typeface="Times New Roman" panose="02020603050405020304" pitchFamily="18" charset="0"/>
            </a:endParaRPr>
          </a:p>
          <a:p>
            <a:pPr algn="ctr" eaLnBrk="1" hangingPunct="1"/>
            <a:r>
              <a:rPr lang="en-US" altLang="en-US" sz="2100" dirty="0">
                <a:solidFill>
                  <a:schemeClr val="tx1"/>
                </a:solidFill>
                <a:latin typeface="Times New Roman" panose="02020603050405020304" pitchFamily="18" charset="0"/>
                <a:cs typeface="Times New Roman" panose="02020603050405020304" pitchFamily="18" charset="0"/>
                <a:sym typeface="+mn-ea"/>
              </a:rPr>
              <a:t>Mahendra Engineering College, Namakkal Dt. </a:t>
            </a:r>
            <a:endParaRPr lang="en-US" altLang="en-US" sz="2100" b="1" dirty="0">
              <a:solidFill>
                <a:schemeClr val="tx1"/>
              </a:solidFill>
              <a:latin typeface="Times New Roman" panose="02020603050405020304" pitchFamily="18" charset="0"/>
              <a:cs typeface="Times New Roman" panose="02020603050405020304" pitchFamily="18" charset="0"/>
              <a:sym typeface="+mn-ea"/>
            </a:endParaRPr>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8" name="Picture 4"/>
          <p:cNvPicPr>
            <a:picLocks noChangeAspect="1"/>
          </p:cNvPicPr>
          <p:nvPr/>
        </p:nvPicPr>
        <p:blipFill>
          <a:blip r:embed="rId2"/>
          <a:stretch>
            <a:fillRect/>
          </a:stretch>
        </p:blipFill>
        <p:spPr>
          <a:xfrm>
            <a:off x="252730" y="423863"/>
            <a:ext cx="914400" cy="904875"/>
          </a:xfrm>
          <a:prstGeom prst="rect">
            <a:avLst/>
          </a:prstGeom>
          <a:noFill/>
          <a:ln w="9525">
            <a:noFill/>
          </a:ln>
        </p:spPr>
      </p:pic>
      <p:sp>
        <p:nvSpPr>
          <p:cNvPr id="9" name="Text Box 8"/>
          <p:cNvSpPr txBox="1"/>
          <p:nvPr/>
        </p:nvSpPr>
        <p:spPr>
          <a:xfrm>
            <a:off x="0" y="6061075"/>
            <a:ext cx="12192635" cy="645160"/>
          </a:xfrm>
          <a:prstGeom prst="rect">
            <a:avLst/>
          </a:prstGeom>
          <a:noFill/>
        </p:spPr>
        <p:txBody>
          <a:bodyPr wrap="square" rtlCol="0">
            <a:spAutoFit/>
          </a:bodyPr>
          <a:p>
            <a:r>
              <a:rPr lang="en-US" altLang="en-US" b="1" dirty="0">
                <a:solidFill>
                  <a:schemeClr val="tx1"/>
                </a:solidFill>
                <a:latin typeface="Times New Roman" panose="02020603050405020304" pitchFamily="18" charset="0"/>
                <a:cs typeface="Times New Roman" panose="02020603050405020304" pitchFamily="18" charset="0"/>
                <a:sym typeface="+mn-ea"/>
              </a:rPr>
              <a:t>    Slide No. 1</a:t>
            </a:r>
            <a:r>
              <a:rPr lang="en-US" altLang="en-US" dirty="0">
                <a:solidFill>
                  <a:schemeClr val="tx1"/>
                </a:solidFill>
                <a:latin typeface="Times New Roman" panose="02020603050405020304" pitchFamily="18" charset="0"/>
                <a:cs typeface="Times New Roman" panose="02020603050405020304" pitchFamily="18" charset="0"/>
                <a:sym typeface="+mn-ea"/>
              </a:rPr>
              <a:t> </a:t>
            </a:r>
            <a:r>
              <a:rPr lang="en-US" altLang="en-US" dirty="0">
                <a:solidFill>
                  <a:schemeClr val="tx1"/>
                </a:solidFill>
                <a:latin typeface="Arial" panose="020B0604020202020204" pitchFamily="34" charset="0"/>
                <a:sym typeface="+mn-ea"/>
              </a:rPr>
              <a:t>	</a:t>
            </a:r>
            <a:r>
              <a:rPr lang="en-US" altLang="en-US" dirty="0">
                <a:solidFill>
                  <a:schemeClr val="tx1"/>
                </a:solidFill>
                <a:latin typeface="Times New Roman" panose="02020603050405020304" pitchFamily="18" charset="0"/>
                <a:cs typeface="Times New Roman" panose="02020603050405020304" pitchFamily="18" charset="0"/>
                <a:sym typeface="+mn-ea"/>
              </a:rPr>
              <a:t>			                              	                                                      </a:t>
            </a:r>
            <a:r>
              <a:rPr lang="en-US" altLang="en-US" b="1" dirty="0">
                <a:solidFill>
                  <a:schemeClr val="tx1"/>
                </a:solidFill>
                <a:latin typeface="Times New Roman" panose="02020603050405020304" pitchFamily="18" charset="0"/>
                <a:cs typeface="Times New Roman" panose="02020603050405020304" pitchFamily="18" charset="0"/>
                <a:sym typeface="+mn-ea"/>
              </a:rPr>
              <a:t>Review Date: 29.01.2026</a:t>
            </a:r>
            <a:endParaRPr lang="en-US" altLang="en-US" b="1" dirty="0">
              <a:solidFill>
                <a:schemeClr val="tx1"/>
              </a:solidFill>
              <a:latin typeface="Times New Roman" panose="02020603050405020304" pitchFamily="18" charset="0"/>
              <a:ea typeface="Times New Roman" panose="02020603050405020304" pitchFamily="18" charset="0"/>
            </a:endParaRPr>
          </a:p>
          <a:p>
            <a:endParaRPr lang="en-US" altLang="en-US" b="1" dirty="0">
              <a:solidFill>
                <a:schemeClr val="tx1"/>
              </a:solidFill>
              <a:latin typeface="Times New Roman" panose="02020603050405020304" pitchFamily="18" charset="0"/>
              <a:ea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              </a:t>
            </a:r>
            <a:r>
              <a:rPr lang="en-US">
                <a:latin typeface="Sans Serif Collection" panose="020B0502040504020204" charset="0"/>
                <a:cs typeface="Sans Serif Collection" panose="020B0502040504020204" charset="0"/>
              </a:rPr>
              <a:t>        </a:t>
            </a:r>
            <a:r>
              <a:rPr lang="en-US" b="1">
                <a:latin typeface="Times New Roman" panose="02020603050405020304" pitchFamily="18" charset="0"/>
                <a:cs typeface="Times New Roman" panose="02020603050405020304" pitchFamily="18" charset="0"/>
              </a:rPr>
              <a:t>Content Outline</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351790" y="1470660"/>
            <a:ext cx="11002010" cy="4260215"/>
          </a:xfrm>
        </p:spPr>
        <p:txBody>
          <a:bodyPr>
            <a:noAutofit/>
          </a:bodyPr>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ABSTRACT</a:t>
            </a:r>
            <a:endParaRPr lang="en-US" sz="2400" b="1" dirty="0">
              <a:latin typeface="Times New Roman" panose="02020603050405020304" pitchFamily="18" charset="0"/>
              <a:cs typeface="Times New Roman" panose="02020603050405020304" pitchFamily="18" charset="0"/>
            </a:endParaRPr>
          </a:p>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INTRODUCTION</a:t>
            </a:r>
            <a:endParaRPr lang="en-US" sz="2400" b="1" dirty="0">
              <a:latin typeface="Times New Roman" panose="02020603050405020304" pitchFamily="18" charset="0"/>
              <a:cs typeface="Times New Roman" panose="02020603050405020304" pitchFamily="18" charset="0"/>
            </a:endParaRPr>
          </a:p>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LITERATURE REVIEW</a:t>
            </a:r>
            <a:endParaRPr lang="en-US" sz="2400" b="1" dirty="0">
              <a:latin typeface="Times New Roman" panose="02020603050405020304" pitchFamily="18" charset="0"/>
              <a:cs typeface="Times New Roman" panose="02020603050405020304" pitchFamily="18" charset="0"/>
            </a:endParaRPr>
          </a:p>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LIST OF MODULES </a:t>
            </a:r>
            <a:endParaRPr lang="en-US" sz="2400" b="1" dirty="0">
              <a:latin typeface="Times New Roman" panose="02020603050405020304" pitchFamily="18" charset="0"/>
              <a:cs typeface="Times New Roman" panose="02020603050405020304" pitchFamily="18" charset="0"/>
            </a:endParaRPr>
          </a:p>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SYSTEM REQUIREMENTS</a:t>
            </a:r>
            <a:endParaRPr lang="en-US" sz="2400" b="1" dirty="0">
              <a:latin typeface="Times New Roman" panose="02020603050405020304" pitchFamily="18" charset="0"/>
              <a:cs typeface="Times New Roman" panose="02020603050405020304" pitchFamily="18" charset="0"/>
            </a:endParaRPr>
          </a:p>
          <a:p>
            <a:pPr>
              <a:lnSpc>
                <a:spcPct val="200000"/>
              </a:lnSpc>
              <a:buFont typeface="Wingdings" panose="05000000000000000000" pitchFamily="2" charset="2"/>
              <a:buChar char="Ø"/>
            </a:pPr>
            <a:r>
              <a:rPr lang="en-US" sz="2400" b="1" dirty="0">
                <a:latin typeface="Times New Roman" panose="02020603050405020304" pitchFamily="18" charset="0"/>
                <a:cs typeface="Times New Roman" panose="02020603050405020304" pitchFamily="18" charset="0"/>
                <a:sym typeface="+mn-ea"/>
              </a:rPr>
              <a:t>CONCLUSION</a:t>
            </a:r>
            <a:endParaRPr lang="en-US" sz="2400" b="1" dirty="0">
              <a:latin typeface="Times New Roman" panose="02020603050405020304" pitchFamily="18" charset="0"/>
              <a:cs typeface="Times New Roman" panose="02020603050405020304" pitchFamily="18" charset="0"/>
            </a:endParaRPr>
          </a:p>
          <a:p>
            <a:endParaRPr lang="en-US" sz="2400" b="1" dirty="0">
              <a:latin typeface="Times New Roman" panose="02020603050405020304" pitchFamily="18" charset="0"/>
              <a:cs typeface="Times New Roman" panose="02020603050405020304" pitchFamily="18" charset="0"/>
            </a:endParaRPr>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9" name="Picture 4"/>
          <p:cNvPicPr>
            <a:picLocks noChangeAspect="1"/>
          </p:cNvPicPr>
          <p:nvPr/>
        </p:nvPicPr>
        <p:blipFill>
          <a:blip r:embed="rId2"/>
          <a:stretch>
            <a:fillRect/>
          </a:stretch>
        </p:blipFill>
        <p:spPr>
          <a:xfrm>
            <a:off x="351790" y="281940"/>
            <a:ext cx="1142365" cy="1130300"/>
          </a:xfrm>
          <a:prstGeom prst="rect">
            <a:avLst/>
          </a:prstGeom>
          <a:noFill/>
          <a:ln w="9525">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				</a:t>
            </a:r>
            <a:r>
              <a:rPr lang="en-US" b="1">
                <a:latin typeface="Times New Roman" panose="02020603050405020304" pitchFamily="18" charset="0"/>
                <a:cs typeface="Times New Roman" panose="02020603050405020304" pitchFamily="18" charset="0"/>
              </a:rPr>
              <a:t>ABSTRACT</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0" y="1825625"/>
            <a:ext cx="11353800" cy="4351655"/>
          </a:xfrm>
        </p:spPr>
        <p:txBody>
          <a:bodyPr>
            <a:normAutofit lnSpcReduction="20000"/>
          </a:bodyPr>
          <a:p>
            <a:pPr algn="l"/>
            <a:r>
              <a:rPr lang="en-US" altLang="en-US"/>
              <a:t> This project presents a secure network-based messaging system that uses the Secure Shell (SSH) protocol to protect communication over untrusted networks.</a:t>
            </a:r>
            <a:endParaRPr lang="en-US" altLang="en-US"/>
          </a:p>
          <a:p>
            <a:pPr algn="l"/>
            <a:endParaRPr lang="en-US" altLang="en-US"/>
          </a:p>
          <a:p>
            <a:pPr algn="l"/>
            <a:r>
              <a:rPr lang="en-US" altLang="en-US"/>
              <a:t> The system integrates hybrid cryptography using RSA for key exchange and AES-256 for end-to-end message encryption, ensuring confidentiality and data integrity.</a:t>
            </a:r>
            <a:endParaRPr lang="en-US" altLang="en-US"/>
          </a:p>
          <a:p>
            <a:pPr algn="l"/>
            <a:endParaRPr lang="en-US" altLang="en-US"/>
          </a:p>
          <a:p>
            <a:pPr algn="l"/>
            <a:r>
              <a:rPr lang="en-US" altLang="en-US"/>
              <a:t> By combining encrypted transport and application-layer security, the proposed solution improves user anonymity and enables secure real-time communication.</a:t>
            </a:r>
            <a:endParaRPr lang="en-US" altLang="en-US"/>
          </a:p>
        </p:txBody>
      </p:sp>
      <p:pic>
        <p:nvPicPr>
          <p:cNvPr id="7" name="Picture 8"/>
          <p:cNvPicPr>
            <a:picLocks noChangeAspect="1"/>
          </p:cNvPicPr>
          <p:nvPr/>
        </p:nvPicPr>
        <p:blipFill>
          <a:blip r:embed="rId1">
            <a:lum contrast="20000"/>
          </a:blip>
          <a:stretch>
            <a:fillRect/>
          </a:stretch>
        </p:blipFill>
        <p:spPr>
          <a:xfrm>
            <a:off x="11024870" y="365125"/>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                         </a:t>
            </a:r>
            <a:r>
              <a:rPr lang="en-US" b="1">
                <a:latin typeface="Times New Roman" panose="02020603050405020304" pitchFamily="18" charset="0"/>
                <a:cs typeface="Times New Roman" panose="02020603050405020304" pitchFamily="18" charset="0"/>
              </a:rPr>
              <a:t>INTRODUCTION</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0" y="1825625"/>
            <a:ext cx="10936605" cy="5293995"/>
          </a:xfrm>
        </p:spPr>
        <p:txBody>
          <a:bodyPr>
            <a:normAutofit lnSpcReduction="20000"/>
          </a:bodyPr>
          <a:p>
            <a:r>
              <a:rPr lang="en-US" altLang="en-US" sz="3000"/>
              <a:t>Growing dependence on network-based communication has increased concerns about data privacy and unauthorized access.</a:t>
            </a:r>
            <a:endParaRPr lang="en-US" altLang="en-US" sz="3000"/>
          </a:p>
          <a:p>
            <a:endParaRPr lang="en-US" altLang="en-US" sz="3000"/>
          </a:p>
          <a:p>
            <a:r>
              <a:rPr lang="en-US" altLang="en-US" sz="3000"/>
              <a:t>Traditional messaging systems are vulnerable to eavesdropping, interception, and identity exposure.</a:t>
            </a:r>
            <a:endParaRPr lang="en-US" altLang="en-US" sz="3000"/>
          </a:p>
          <a:p>
            <a:endParaRPr lang="en-US" altLang="en-US" sz="3000"/>
          </a:p>
          <a:p>
            <a:r>
              <a:rPr lang="en-US" altLang="en-US" sz="3000"/>
              <a:t>Secure Shell (SSH) provides encrypted communication and authentication over insecure networks.</a:t>
            </a:r>
            <a:endParaRPr lang="en-US" altLang="en-US" sz="3000"/>
          </a:p>
          <a:p>
            <a:endParaRPr lang="en-US" altLang="en-US" sz="3000"/>
          </a:p>
          <a:p>
            <a:r>
              <a:rPr lang="en-US" altLang="en-US" sz="3000"/>
              <a:t>This project proposes a secure network messenger using SSH with hybrid cryptography to improve confidentiality and user anonymity.</a:t>
            </a:r>
            <a:endParaRPr lang="en-US" altLang="en-US" sz="3000"/>
          </a:p>
        </p:txBody>
      </p:sp>
      <p:pic>
        <p:nvPicPr>
          <p:cNvPr id="7" name="Picture 8"/>
          <p:cNvPicPr>
            <a:picLocks noChangeAspect="1"/>
          </p:cNvPicPr>
          <p:nvPr/>
        </p:nvPicPr>
        <p:blipFill>
          <a:blip r:embed="rId1">
            <a:lum contrast="20000"/>
          </a:blip>
          <a:stretch>
            <a:fillRect/>
          </a:stretch>
        </p:blipFill>
        <p:spPr>
          <a:xfrm>
            <a:off x="1079373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499110" y="742315"/>
            <a:ext cx="10063480" cy="2268855"/>
          </a:xfrm>
        </p:spPr>
        <p:txBody>
          <a:bodyPr>
            <a:normAutofit fontScale="90000"/>
          </a:bodyPr>
          <a:p>
            <a:pPr algn="l"/>
            <a:r>
              <a:rPr lang="en-US" altLang="en-US" b="1" dirty="0">
                <a:latin typeface="Times New Roman" panose="02020603050405020304" pitchFamily="18" charset="0"/>
                <a:cs typeface="Times New Roman" panose="02020603050405020304" pitchFamily="18" charset="0"/>
                <a:sym typeface="+mn-ea"/>
              </a:rPr>
              <a:t>                 LITERATURE REVIEW</a:t>
            </a:r>
            <a:br>
              <a:rPr lang="en-US" altLang="en-US" b="1" dirty="0">
                <a:latin typeface="Times New Roman" panose="02020603050405020304" pitchFamily="18" charset="0"/>
                <a:cs typeface="Times New Roman" panose="02020603050405020304" pitchFamily="18" charset="0"/>
                <a:sym typeface="+mn-ea"/>
              </a:rPr>
            </a:br>
            <a:br>
              <a:rPr lang="en-US" altLang="en-US" b="1" dirty="0">
                <a:latin typeface="Times New Roman" panose="02020603050405020304" pitchFamily="18" charset="0"/>
                <a:cs typeface="Times New Roman" panose="02020603050405020304" pitchFamily="18" charset="0"/>
                <a:sym typeface="+mn-ea"/>
              </a:rPr>
            </a:br>
            <a:r>
              <a:rPr lang="en-US" altLang="en-US" sz="2000" b="1">
                <a:latin typeface="Times New Roman" panose="02020603050405020304" pitchFamily="18" charset="0"/>
                <a:cs typeface="Times New Roman" panose="02020603050405020304" pitchFamily="18" charset="0"/>
                <a:sym typeface="+mn-ea"/>
              </a:rPr>
              <a:t>A Comprehensive End-to-End Solution for Web Security with  Cryptography,Multi-Factor Authentication, and Secure Communication</a:t>
            </a:r>
            <a:br>
              <a:rPr lang="en-US" altLang="en-US" sz="3000">
                <a:latin typeface="Times New Roman" panose="02020603050405020304" pitchFamily="18" charset="0"/>
                <a:cs typeface="Times New Roman" panose="02020603050405020304" pitchFamily="18" charset="0"/>
                <a:sym typeface="+mn-ea"/>
              </a:rPr>
            </a:br>
            <a:r>
              <a:rPr lang="en-US" altLang="en-US" sz="2000">
                <a:latin typeface="Times New Roman" panose="02020603050405020304" pitchFamily="18" charset="0"/>
                <a:cs typeface="Times New Roman" panose="02020603050405020304" pitchFamily="18" charset="0"/>
                <a:sym typeface="+mn-ea"/>
              </a:rPr>
              <a:t>Kanderi Johith Kumar,Kandlapalli Aravind Sai,Adapala Dharshan Reddy,Chithamreddy Pranay Diwik Reddy,Shinu M Rajagoapala</a:t>
            </a:r>
            <a:br>
              <a:rPr lang="en-US" altLang="en-US" sz="2000" b="1" dirty="0">
                <a:latin typeface="Times New Roman" panose="02020603050405020304" pitchFamily="18" charset="0"/>
                <a:cs typeface="Times New Roman" panose="02020603050405020304" pitchFamily="18" charset="0"/>
                <a:sym typeface="+mn-ea"/>
              </a:rPr>
            </a:br>
            <a:endParaRPr lang="en-US" sz="2000"/>
          </a:p>
        </p:txBody>
      </p:sp>
      <p:sp>
        <p:nvSpPr>
          <p:cNvPr id="5" name="Content Placeholder 4"/>
          <p:cNvSpPr>
            <a:spLocks noGrp="1"/>
          </p:cNvSpPr>
          <p:nvPr>
            <p:ph idx="1"/>
          </p:nvPr>
        </p:nvSpPr>
        <p:spPr>
          <a:xfrm>
            <a:off x="499745" y="2320290"/>
            <a:ext cx="11329670" cy="4224655"/>
          </a:xfrm>
        </p:spPr>
        <p:txBody>
          <a:bodyPr>
            <a:normAutofit fontScale="25000"/>
          </a:bodyPr>
          <a:p>
            <a:endParaRPr lang="en-US" altLang="en-US"/>
          </a:p>
          <a:p>
            <a:endParaRPr lang="en-US" altLang="en-US"/>
          </a:p>
          <a:p>
            <a:r>
              <a:rPr lang="en-US" altLang="en-US" sz="8800">
                <a:latin typeface="Times New Roman" panose="02020603050405020304" pitchFamily="18" charset="0"/>
                <a:cs typeface="Times New Roman" panose="02020603050405020304" pitchFamily="18" charset="0"/>
              </a:rPr>
              <a:t>Web security has become a critical research area due to the rapid growth of web-based applications, online communication, and digital financial transactions, increasing exposure to cyber threats such as data breaches and unauthorized access.</a:t>
            </a:r>
            <a:endParaRPr lang="en-US" altLang="en-US" sz="8800">
              <a:latin typeface="Times New Roman" panose="02020603050405020304" pitchFamily="18" charset="0"/>
              <a:cs typeface="Times New Roman" panose="02020603050405020304" pitchFamily="18" charset="0"/>
            </a:endParaRPr>
          </a:p>
          <a:p>
            <a:r>
              <a:rPr lang="en-US" altLang="en-US" sz="8800">
                <a:latin typeface="Times New Roman" panose="02020603050405020304" pitchFamily="18" charset="0"/>
                <a:cs typeface="Times New Roman" panose="02020603050405020304" pitchFamily="18" charset="0"/>
              </a:rPr>
              <a:t>Cryptographic techniques play a vital role in protecting sensitive data. Studies have explored both classical and modern encryption algorithms, demonstrating their effectiveness in ensuring data confidentiality, though many focus on standalone encryption rather than full system integration.</a:t>
            </a:r>
            <a:endParaRPr lang="en-US" altLang="en-US" sz="8800">
              <a:latin typeface="Times New Roman" panose="02020603050405020304" pitchFamily="18" charset="0"/>
              <a:cs typeface="Times New Roman" panose="02020603050405020304" pitchFamily="18" charset="0"/>
            </a:endParaRPr>
          </a:p>
          <a:p>
            <a:r>
              <a:rPr lang="en-US" altLang="en-US" sz="8800">
                <a:latin typeface="Times New Roman" panose="02020603050405020304" pitchFamily="18" charset="0"/>
                <a:cs typeface="Times New Roman" panose="02020603050405020304" pitchFamily="18" charset="0"/>
              </a:rPr>
              <a:t>Research on symmetric encryption algorithms such as AES, DES, Triple DES, and Blowfish highlights their reliability, efficiency, and widespread adoption in securing digital data across web platforms.</a:t>
            </a:r>
            <a:endParaRPr lang="en-US" altLang="en-US" sz="8800">
              <a:latin typeface="Times New Roman" panose="02020603050405020304" pitchFamily="18" charset="0"/>
              <a:cs typeface="Times New Roman" panose="02020603050405020304" pitchFamily="18" charset="0"/>
            </a:endParaRPr>
          </a:p>
        </p:txBody>
      </p:sp>
      <p:pic>
        <p:nvPicPr>
          <p:cNvPr id="7" name="Picture 8"/>
          <p:cNvPicPr>
            <a:picLocks noChangeAspect="1"/>
          </p:cNvPicPr>
          <p:nvPr/>
        </p:nvPicPr>
        <p:blipFill>
          <a:blip r:embed="rId1">
            <a:lum contrast="20000"/>
          </a:blip>
          <a:stretch>
            <a:fillRect/>
          </a:stretch>
        </p:blipFill>
        <p:spPr>
          <a:xfrm>
            <a:off x="10562590" y="22860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605155" y="168910"/>
            <a:ext cx="1042035" cy="1031240"/>
          </a:xfrm>
          <a:prstGeom prst="rect">
            <a:avLst/>
          </a:prstGeom>
          <a:noFill/>
          <a:ln w="9525">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b="1">
                <a:latin typeface="Times New Roman" panose="02020603050405020304" pitchFamily="18" charset="0"/>
                <a:cs typeface="Times New Roman" panose="02020603050405020304" pitchFamily="18" charset="0"/>
              </a:rPr>
              <a:t>                </a:t>
            </a:r>
            <a:r>
              <a:rPr lang="en-US" altLang="en-US" b="1" dirty="0">
                <a:latin typeface="Times New Roman" panose="02020603050405020304" pitchFamily="18" charset="0"/>
                <a:cs typeface="Times New Roman" panose="02020603050405020304" pitchFamily="18" charset="0"/>
                <a:sym typeface="+mn-ea"/>
              </a:rPr>
              <a:t>LITERATURE REVIEW</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252095" y="1825625"/>
            <a:ext cx="11101705" cy="4831715"/>
          </a:xfrm>
        </p:spPr>
        <p:txBody>
          <a:bodyPr>
            <a:normAutofit lnSpcReduction="20000"/>
          </a:bodyPr>
          <a:p>
            <a:r>
              <a:rPr lang="en-US" altLang="en-US" b="1">
                <a:latin typeface="Times New Roman" panose="02020603050405020304" pitchFamily="18" charset="0"/>
                <a:cs typeface="Times New Roman" panose="02020603050405020304" pitchFamily="18" charset="0"/>
                <a:sym typeface="+mn-ea"/>
              </a:rPr>
              <a:t>A Comprehensive End-to-End Solution for Web Security with  Cryptography,Multi-Factor Authentication, and Secure Communication</a:t>
            </a:r>
            <a:endParaRPr lang="en-US" altLang="en-US"/>
          </a:p>
          <a:p>
            <a:r>
              <a:rPr lang="en-US" altLang="en-US"/>
              <a:t>Classical ciphers like Caesar Cipher, Rail Fence, and Columnar Transposition have been studied mainly for educational and analytical purposes, helping users understand fundamental cryptographic principles despite their limited real-world security.</a:t>
            </a:r>
            <a:endParaRPr lang="en-US" altLang="en-US"/>
          </a:p>
          <a:p>
            <a:r>
              <a:rPr lang="en-US" altLang="en-US"/>
              <a:t>Secure communication protocols have been widely investigated to prevent man-in-the-middle and eavesdropping attacks. HTTPS combined with SSL/TLS is identified as a core mechanism for protecting data transmission over the internet.</a:t>
            </a:r>
            <a:endParaRPr lang="en-US" altLang="en-US"/>
          </a:p>
          <a:p>
            <a:r>
              <a:rPr lang="en-US" altLang="en-US"/>
              <a:t>Multi-factor authentication (MFA) has been proven to significantly enhance access control by combining multiple verification factors such as passwords, OTPs, biometrics, and device-based authentication.</a:t>
            </a:r>
            <a:endParaRPr lang="en-US" altLang="en-US"/>
          </a:p>
        </p:txBody>
      </p:sp>
      <p:pic>
        <p:nvPicPr>
          <p:cNvPr id="7" name="Picture 8"/>
          <p:cNvPicPr>
            <a:picLocks noChangeAspect="1"/>
          </p:cNvPicPr>
          <p:nvPr/>
        </p:nvPicPr>
        <p:blipFill>
          <a:blip r:embed="rId1">
            <a:lum contrast="20000"/>
          </a:blip>
          <a:stretch>
            <a:fillRect/>
          </a:stretch>
        </p:blipFill>
        <p:spPr>
          <a:xfrm>
            <a:off x="10944860" y="22860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normAutofit/>
          </a:bodyPr>
          <a:p>
            <a:r>
              <a:rPr lang="en-US" altLang="en-US" b="1" dirty="0">
                <a:latin typeface="Times New Roman" panose="02020603050405020304" pitchFamily="18" charset="0"/>
                <a:cs typeface="Times New Roman" panose="02020603050405020304" pitchFamily="18" charset="0"/>
                <a:sym typeface="+mn-ea"/>
              </a:rPr>
              <a:t>		    LITERATURE REVIEW</a:t>
            </a:r>
            <a:endParaRPr lang="en-US"/>
          </a:p>
        </p:txBody>
      </p:sp>
      <p:sp>
        <p:nvSpPr>
          <p:cNvPr id="5" name="Content Placeholder 4"/>
          <p:cNvSpPr>
            <a:spLocks noGrp="1"/>
          </p:cNvSpPr>
          <p:nvPr>
            <p:ph idx="1"/>
          </p:nvPr>
        </p:nvSpPr>
        <p:spPr/>
        <p:txBody>
          <a:bodyPr>
            <a:normAutofit fontScale="90000"/>
          </a:bodyPr>
          <a:p>
            <a:r>
              <a:rPr lang="en-US" altLang="en-US" b="1">
                <a:latin typeface="Times New Roman" panose="02020603050405020304" pitchFamily="18" charset="0"/>
                <a:cs typeface="Times New Roman" panose="02020603050405020304" pitchFamily="18" charset="0"/>
                <a:sym typeface="+mn-ea"/>
              </a:rPr>
              <a:t>A Comprehensive End-to-End Solution for Web Security with  Cryptography,Multi-Factor Authentication, and Secure Communication</a:t>
            </a:r>
            <a:endParaRPr lang="en-US" altLang="en-US"/>
          </a:p>
          <a:p>
            <a:r>
              <a:rPr lang="en-US" altLang="en-US"/>
              <a:t>Time-based One-Time Password (TOTP) mechanisms generate dynamic authentication codes, offering improved resistance against replay attacks and session hijacking.</a:t>
            </a:r>
            <a:endParaRPr lang="en-US" altLang="en-US"/>
          </a:p>
          <a:p>
            <a:r>
              <a:rPr lang="en-US" altLang="en-US"/>
              <a:t>Research on secure messaging systems demonstrates that end-to-end encryption and strong key management are essential for maintaining message confidentiality and integrity.</a:t>
            </a:r>
            <a:endParaRPr lang="en-US" altLang="en-US"/>
          </a:p>
          <a:p>
            <a:r>
              <a:rPr lang="en-US" altLang="en-US"/>
              <a:t>PGP-based encryption has been widely recognized as an effective method for secure email communication, ensuring that only intended recipients can decrypt and access sensitive messages.</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ltLang="en-US" b="1" dirty="0">
                <a:latin typeface="Times New Roman" panose="02020603050405020304" pitchFamily="18" charset="0"/>
                <a:cs typeface="Times New Roman" panose="02020603050405020304" pitchFamily="18" charset="0"/>
                <a:sym typeface="+mn-ea"/>
              </a:rPr>
              <a:t>                LITERATURE REVIEW</a:t>
            </a:r>
            <a:endParaRPr lang="en-US"/>
          </a:p>
        </p:txBody>
      </p:sp>
      <p:sp>
        <p:nvSpPr>
          <p:cNvPr id="5" name="Content Placeholder 4"/>
          <p:cNvSpPr>
            <a:spLocks noGrp="1"/>
          </p:cNvSpPr>
          <p:nvPr>
            <p:ph idx="1"/>
          </p:nvPr>
        </p:nvSpPr>
        <p:spPr>
          <a:xfrm>
            <a:off x="838200" y="1825625"/>
            <a:ext cx="10515600" cy="4747895"/>
          </a:xfrm>
        </p:spPr>
        <p:txBody>
          <a:bodyPr>
            <a:normAutofit fontScale="90000"/>
          </a:bodyPr>
          <a:p>
            <a:r>
              <a:rPr lang="en-US" altLang="en-US" b="1">
                <a:latin typeface="Times New Roman" panose="02020603050405020304" pitchFamily="18" charset="0"/>
                <a:cs typeface="Times New Roman" panose="02020603050405020304" pitchFamily="18" charset="0"/>
                <a:sym typeface="+mn-ea"/>
              </a:rPr>
              <a:t>A Comprehensive End-to-End Solution for Web Security with  Cryptography,Multi-Factor Authentication, and Secure Communication</a:t>
            </a:r>
            <a:endParaRPr lang="en-US" altLang="en-US"/>
          </a:p>
          <a:p>
            <a:r>
              <a:rPr lang="en-US" altLang="en-US"/>
              <a:t>Machine learning-based security solutions show promise in detecting advanced attacks but often introduce complexity, computational overhead, and dependency on high-quality datasets.</a:t>
            </a:r>
            <a:endParaRPr lang="en-US" altLang="en-US"/>
          </a:p>
          <a:p>
            <a:r>
              <a:rPr lang="en-US" altLang="en-US"/>
              <a:t>Secure online payment systems rely heavily on encryption, tokenization, and compliance with security standards such as PCI-DSS to protect financial data.</a:t>
            </a:r>
            <a:endParaRPr lang="en-US" altLang="en-US"/>
          </a:p>
          <a:p>
            <a:r>
              <a:rPr lang="en-US" altLang="en-US"/>
              <a:t>Research in fintech security emphasizes that payment gateways must avoid direct handling of sensitive card information to minimize exposure to fraud and breaches.</a:t>
            </a:r>
            <a:endParaRPr lang="en-US" altLang="en-US"/>
          </a:p>
          <a:p>
            <a:r>
              <a:rPr lang="en-US" altLang="en-US"/>
              <a:t>Existing literature predominantly addresses encryption and authentication.</a:t>
            </a:r>
            <a:endParaRPr lang="en-US" altLang="en-US"/>
          </a:p>
        </p:txBody>
      </p:sp>
      <p:sp>
        <p:nvSpPr>
          <p:cNvPr id="7" name="Text Box 6"/>
          <p:cNvSpPr txBox="1"/>
          <p:nvPr/>
        </p:nvSpPr>
        <p:spPr>
          <a:xfrm>
            <a:off x="10245090" y="826135"/>
            <a:ext cx="4064000" cy="368300"/>
          </a:xfrm>
          <a:prstGeom prst="rect">
            <a:avLst/>
          </a:prstGeom>
          <a:noFill/>
        </p:spPr>
        <p:txBody>
          <a:bodyPr wrap="square" rtlCol="0">
            <a:spAutoFit/>
          </a:bodyPr>
          <a:p>
            <a:endParaRPr lang="en-US"/>
          </a:p>
        </p:txBody>
      </p:sp>
      <p:pic>
        <p:nvPicPr>
          <p:cNvPr id="8"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b="1"/>
              <a:t>                   </a:t>
            </a:r>
            <a:r>
              <a:rPr lang="en-US" b="1">
                <a:latin typeface="Times New Roman" panose="02020603050405020304" pitchFamily="18" charset="0"/>
                <a:cs typeface="Times New Roman" panose="02020603050405020304" pitchFamily="18" charset="0"/>
              </a:rPr>
              <a:t> LITERATURE REVIEW</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252095" y="1825625"/>
            <a:ext cx="11101705" cy="4616450"/>
          </a:xfrm>
        </p:spPr>
        <p:txBody>
          <a:bodyPr>
            <a:noAutofit/>
          </a:bodyPr>
          <a:p>
            <a:r>
              <a:rPr lang="en-US" altLang="en-US" sz="2400" b="1">
                <a:latin typeface="Times New Roman" panose="02020603050405020304" pitchFamily="18" charset="0"/>
                <a:cs typeface="Times New Roman" panose="02020603050405020304" pitchFamily="18" charset="0"/>
                <a:sym typeface="+mn-ea"/>
              </a:rPr>
              <a:t>A Comprehensive End-to-End Solution for Web Security with  Cryptography,Multi-Factor Authentication, and Secure Communication</a:t>
            </a:r>
            <a:endParaRPr lang="en-US" altLang="en-US" sz="2400"/>
          </a:p>
          <a:p>
            <a:r>
              <a:rPr lang="en-US" altLang="en-US" sz="2400"/>
              <a:t>The lack of holistic security solutions creates gaps where attackers can exploit weakly integrated systems.</a:t>
            </a:r>
            <a:endParaRPr lang="en-US" altLang="en-US" sz="2400"/>
          </a:p>
          <a:p>
            <a:r>
              <a:rPr lang="en-US" altLang="en-US" sz="2400"/>
              <a:t>This project builds upon existing research by combining cryptographic algorithms, multi-factor authentication, secure communication protocols, PGP-encrypted messaging, tokenization, and secure payment processing.</a:t>
            </a:r>
            <a:endParaRPr lang="en-US" altLang="en-US" sz="2400"/>
          </a:p>
          <a:p>
            <a:r>
              <a:rPr lang="en-US" altLang="en-US" sz="2400"/>
              <a:t>By integrating multiple security layers into one platform, the proposed system addresses real-world security challenges more effectively than isolated solutions.</a:t>
            </a:r>
            <a:endParaRPr lang="en-US" altLang="en-US" sz="2400"/>
          </a:p>
          <a:p>
            <a:r>
              <a:rPr lang="en-US" altLang="en-US" sz="2400"/>
              <a:t>The literature collectively supports the need for comprehensive, scalable, and user-friendly web security architectures that align with modern cybersecurity standards.</a:t>
            </a:r>
            <a:endParaRPr lang="en-US" altLang="en-US" sz="2400"/>
          </a:p>
        </p:txBody>
      </p:sp>
      <p:pic>
        <p:nvPicPr>
          <p:cNvPr id="7" name="Picture 8"/>
          <p:cNvPicPr>
            <a:picLocks noChangeAspect="1"/>
          </p:cNvPicPr>
          <p:nvPr/>
        </p:nvPicPr>
        <p:blipFill>
          <a:blip r:embed="rId1">
            <a:lum contrast="20000"/>
          </a:blip>
          <a:stretch>
            <a:fillRect/>
          </a:stretch>
        </p:blipFill>
        <p:spPr>
          <a:xfrm>
            <a:off x="10877550" y="50165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sz="5400" b="1"/>
              <a:t>                    </a:t>
            </a:r>
            <a:r>
              <a:rPr lang="en-US" sz="5400" b="1">
                <a:latin typeface="Times New Roman" panose="02020603050405020304" pitchFamily="18" charset="0"/>
                <a:cs typeface="Times New Roman" panose="02020603050405020304" pitchFamily="18" charset="0"/>
              </a:rPr>
              <a:t>MODULE LIST</a:t>
            </a:r>
            <a:endParaRPr lang="en-US" sz="54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252095" y="1825625"/>
            <a:ext cx="11101705" cy="4351655"/>
          </a:xfrm>
        </p:spPr>
        <p:txBody>
          <a:bodyPr/>
          <a:p>
            <a:pPr marL="0" indent="0">
              <a:buNone/>
            </a:pPr>
            <a:r>
              <a:rPr lang="en-US" altLang="en-US"/>
              <a:t>I. Graphical User Interface (GUI) Module</a:t>
            </a:r>
            <a:endParaRPr lang="en-US" altLang="en-US"/>
          </a:p>
          <a:p>
            <a:pPr marL="0" indent="0">
              <a:buNone/>
            </a:pPr>
            <a:r>
              <a:rPr lang="en-US" altLang="en-US"/>
              <a:t>➢ Collects server IP address and port</a:t>
            </a:r>
            <a:endParaRPr lang="en-US" altLang="en-US"/>
          </a:p>
          <a:p>
            <a:pPr marL="0" indent="0">
              <a:buNone/>
            </a:pPr>
            <a:r>
              <a:rPr lang="en-US" altLang="en-US"/>
              <a:t>➢ Accepts username and password inputs</a:t>
            </a:r>
            <a:endParaRPr lang="en-US" altLang="en-US"/>
          </a:p>
          <a:p>
            <a:pPr marL="0" indent="0">
              <a:buNone/>
            </a:pPr>
            <a:r>
              <a:rPr lang="en-US" altLang="en-US"/>
              <a:t>➢ Displays contacts list and chat window</a:t>
            </a:r>
            <a:endParaRPr lang="en-US" altLang="en-US"/>
          </a:p>
          <a:p>
            <a:pPr marL="0" indent="0">
              <a:buNone/>
            </a:pPr>
            <a:r>
              <a:rPr lang="en-US" altLang="en-US"/>
              <a:t>II. Client Authentication Module</a:t>
            </a:r>
            <a:endParaRPr lang="en-US" altLang="en-US"/>
          </a:p>
          <a:p>
            <a:pPr marL="0" indent="0">
              <a:buNone/>
            </a:pPr>
            <a:r>
              <a:rPr lang="en-US" altLang="en-US"/>
              <a:t>➢ Validates user credentials</a:t>
            </a:r>
            <a:endParaRPr lang="en-US" altLang="en-US"/>
          </a:p>
          <a:p>
            <a:pPr marL="0" indent="0">
              <a:buNone/>
            </a:pPr>
            <a:r>
              <a:rPr lang="en-US" altLang="en-US"/>
              <a:t>➢ Establishes trusted client identity</a:t>
            </a:r>
            <a:endParaRPr lang="en-US" altLang="en-US"/>
          </a:p>
          <a:p>
            <a:pPr marL="0" indent="0">
              <a:buNone/>
            </a:pPr>
            <a:r>
              <a:rPr lang="en-US" altLang="en-US"/>
              <a:t>➢ Prevents unauthorized access</a:t>
            </a:r>
            <a:endParaRPr lang="en-US" altLang="en-US"/>
          </a:p>
        </p:txBody>
      </p:sp>
      <p:pic>
        <p:nvPicPr>
          <p:cNvPr id="7" name="Picture 8"/>
          <p:cNvPicPr>
            <a:picLocks noChangeAspect="1"/>
          </p:cNvPicPr>
          <p:nvPr/>
        </p:nvPicPr>
        <p:blipFill>
          <a:blip r:embed="rId1">
            <a:lum contrast="20000"/>
          </a:blip>
          <a:stretch>
            <a:fillRect/>
          </a:stretch>
        </p:blipFill>
        <p:spPr>
          <a:xfrm>
            <a:off x="10965180" y="433705"/>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b="1">
                <a:sym typeface="+mn-ea"/>
              </a:rPr>
              <a:t>               </a:t>
            </a:r>
            <a:r>
              <a:rPr lang="en-US" b="1">
                <a:latin typeface="Times New Roman" panose="02020603050405020304" pitchFamily="18" charset="0"/>
                <a:cs typeface="Times New Roman" panose="02020603050405020304" pitchFamily="18" charset="0"/>
                <a:sym typeface="+mn-ea"/>
              </a:rPr>
              <a:t>     MODULE LIST</a:t>
            </a:r>
            <a:endParaRPr lang="en-US">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52095" y="1825625"/>
            <a:ext cx="11101705" cy="4351655"/>
          </a:xfrm>
        </p:spPr>
        <p:txBody>
          <a:bodyPr/>
          <a:p>
            <a:pPr marL="0" indent="0">
              <a:buNone/>
            </a:pPr>
            <a:r>
              <a:rPr lang="en-US" altLang="en-US"/>
              <a:t>VII. Contacts Management Module</a:t>
            </a:r>
            <a:endParaRPr lang="en-US" altLang="en-US"/>
          </a:p>
          <a:p>
            <a:pPr marL="0" indent="0">
              <a:buNone/>
            </a:pPr>
            <a:r>
              <a:rPr lang="en-US" altLang="en-US"/>
              <a:t>➢ Stores unique communication partners</a:t>
            </a:r>
            <a:endParaRPr lang="en-US" altLang="en-US"/>
          </a:p>
          <a:p>
            <a:pPr marL="0" indent="0">
              <a:buNone/>
            </a:pPr>
            <a:r>
              <a:rPr lang="en-US" altLang="en-US"/>
              <a:t>➢ Enables quick chat switching</a:t>
            </a:r>
            <a:endParaRPr lang="en-US" altLang="en-US"/>
          </a:p>
          <a:p>
            <a:pPr marL="0" indent="0">
              <a:buNone/>
            </a:pPr>
            <a:r>
              <a:rPr lang="en-US" altLang="en-US"/>
              <a:t>➢ Synchronizes chat history with contacts</a:t>
            </a:r>
            <a:endParaRPr lang="en-US" altLang="en-US"/>
          </a:p>
          <a:p>
            <a:pPr marL="0" indent="0">
              <a:buNone/>
            </a:pPr>
            <a:r>
              <a:rPr lang="en-US" altLang="en-US"/>
              <a:t>VIII. Message Decryption &amp; Integrity Verification Module</a:t>
            </a:r>
            <a:endParaRPr lang="en-US" altLang="en-US"/>
          </a:p>
          <a:p>
            <a:pPr marL="0" indent="0">
              <a:buNone/>
            </a:pPr>
            <a:r>
              <a:rPr lang="en-US" altLang="en-US"/>
              <a:t>➢ Decrypts messages using AES-256</a:t>
            </a:r>
            <a:endParaRPr lang="en-US" altLang="en-US"/>
          </a:p>
          <a:p>
            <a:pPr marL="0" indent="0">
              <a:buNone/>
            </a:pPr>
            <a:r>
              <a:rPr lang="en-US" altLang="en-US"/>
              <a:t>➢ Verifies integrity using cryptographic checks (HMAC/GCM)</a:t>
            </a:r>
            <a:endParaRPr lang="en-US" altLang="en-US"/>
          </a:p>
          <a:p>
            <a:pPr marL="0" indent="0">
              <a:buNone/>
            </a:pPr>
            <a:r>
              <a:rPr lang="en-US" altLang="en-US"/>
              <a:t>➢ Prevents message tampering</a:t>
            </a:r>
            <a:endParaRPr lang="en-US" altLang="en-US"/>
          </a:p>
        </p:txBody>
      </p:sp>
      <p:pic>
        <p:nvPicPr>
          <p:cNvPr id="7" name="Picture 8"/>
          <p:cNvPicPr>
            <a:picLocks noChangeAspect="1"/>
          </p:cNvPicPr>
          <p:nvPr/>
        </p:nvPicPr>
        <p:blipFill>
          <a:blip r:embed="rId1">
            <a:lum contrast="20000"/>
          </a:blip>
          <a:stretch>
            <a:fillRect/>
          </a:stretch>
        </p:blipFill>
        <p:spPr>
          <a:xfrm>
            <a:off x="11115675" y="50165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b="1">
                <a:sym typeface="+mn-ea"/>
              </a:rPr>
              <a:t>                  </a:t>
            </a:r>
            <a:r>
              <a:rPr lang="en-US" b="1">
                <a:latin typeface="Times New Roman" panose="02020603050405020304" pitchFamily="18" charset="0"/>
                <a:cs typeface="Times New Roman" panose="02020603050405020304" pitchFamily="18" charset="0"/>
                <a:sym typeface="+mn-ea"/>
              </a:rPr>
              <a:t>  MODULE LIST</a:t>
            </a:r>
            <a:endParaRPr lang="en-US">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52095" y="1825625"/>
            <a:ext cx="11101705" cy="4351655"/>
          </a:xfrm>
        </p:spPr>
        <p:txBody>
          <a:bodyPr/>
          <a:p>
            <a:pPr marL="0" indent="0">
              <a:buNone/>
            </a:pPr>
            <a:r>
              <a:rPr lang="en-US" altLang="en-US"/>
              <a:t>III. Secure Transport Layer Module (SSH)</a:t>
            </a:r>
            <a:endParaRPr lang="en-US" altLang="en-US"/>
          </a:p>
          <a:p>
            <a:pPr marL="0" indent="0">
              <a:buNone/>
            </a:pPr>
            <a:r>
              <a:rPr lang="en-US" altLang="en-US"/>
              <a:t>➢ Encrypts all client-server communication</a:t>
            </a:r>
            <a:endParaRPr lang="en-US" altLang="en-US"/>
          </a:p>
          <a:p>
            <a:pPr marL="0" indent="0">
              <a:buNone/>
            </a:pPr>
            <a:r>
              <a:rPr lang="en-US" altLang="en-US"/>
              <a:t>➢ Ensures data confidentiality and integrity</a:t>
            </a:r>
            <a:endParaRPr lang="en-US" altLang="en-US"/>
          </a:p>
          <a:p>
            <a:pPr marL="0" indent="0">
              <a:buNone/>
            </a:pPr>
            <a:r>
              <a:rPr lang="en-US" altLang="en-US"/>
              <a:t>➢ Prevents network-level attacks</a:t>
            </a:r>
            <a:endParaRPr lang="en-US" altLang="en-US"/>
          </a:p>
          <a:p>
            <a:pPr marL="0" indent="0">
              <a:buNone/>
            </a:pPr>
            <a:r>
              <a:rPr lang="en-US" altLang="en-US"/>
              <a:t>IV. RSA Key Exchange &amp; Identity Module</a:t>
            </a:r>
            <a:endParaRPr lang="en-US" altLang="en-US"/>
          </a:p>
          <a:p>
            <a:pPr marL="0" indent="0">
              <a:buNone/>
            </a:pPr>
            <a:r>
              <a:rPr lang="en-US" altLang="en-US"/>
              <a:t>➢ Exchanges public keys securely</a:t>
            </a:r>
            <a:endParaRPr lang="en-US" altLang="en-US"/>
          </a:p>
          <a:p>
            <a:pPr marL="0" indent="0">
              <a:buNone/>
            </a:pPr>
            <a:r>
              <a:rPr lang="en-US" altLang="en-US"/>
              <a:t>➢ Encrypts AES session keys using RSA</a:t>
            </a:r>
            <a:endParaRPr lang="en-US" altLang="en-US"/>
          </a:p>
          <a:p>
            <a:pPr marL="0" indent="0">
              <a:buNone/>
            </a:pPr>
            <a:r>
              <a:rPr lang="en-US" altLang="en-US"/>
              <a:t>➢ Prevents key interception attacks</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b="1">
                <a:sym typeface="+mn-ea"/>
              </a:rPr>
              <a:t>                    </a:t>
            </a:r>
            <a:r>
              <a:rPr lang="en-US" b="1">
                <a:latin typeface="Times New Roman" panose="02020603050405020304" pitchFamily="18" charset="0"/>
                <a:cs typeface="Times New Roman" panose="02020603050405020304" pitchFamily="18" charset="0"/>
                <a:sym typeface="+mn-ea"/>
              </a:rPr>
              <a:t>MODULE LIST</a:t>
            </a:r>
            <a:endParaRPr lang="en-US">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52095" y="1825625"/>
            <a:ext cx="11101705" cy="4351655"/>
          </a:xfrm>
        </p:spPr>
        <p:txBody>
          <a:bodyPr/>
          <a:p>
            <a:pPr marL="0" indent="0">
              <a:buNone/>
            </a:pPr>
            <a:r>
              <a:rPr lang="en-US" altLang="en-US"/>
              <a:t>V. AES-256 Message Encryption Module</a:t>
            </a:r>
            <a:endParaRPr lang="en-US" altLang="en-US"/>
          </a:p>
          <a:p>
            <a:pPr marL="0" indent="0">
              <a:buNone/>
            </a:pPr>
            <a:r>
              <a:rPr lang="en-US" altLang="en-US"/>
              <a:t>➢ Encrypts messages using AES-256</a:t>
            </a:r>
            <a:endParaRPr lang="en-US" altLang="en-US"/>
          </a:p>
          <a:p>
            <a:pPr marL="0" indent="0">
              <a:buNone/>
            </a:pPr>
            <a:r>
              <a:rPr lang="en-US" altLang="en-US"/>
              <a:t>➢ Uses secure modes (GCM/CBC) with IVs</a:t>
            </a:r>
            <a:endParaRPr lang="en-US" altLang="en-US"/>
          </a:p>
          <a:p>
            <a:pPr marL="0" indent="0">
              <a:buNone/>
            </a:pPr>
            <a:r>
              <a:rPr lang="en-US" altLang="en-US"/>
              <a:t>➢ Ensures confidentiality of message content</a:t>
            </a:r>
            <a:endParaRPr lang="en-US" altLang="en-US"/>
          </a:p>
          <a:p>
            <a:pPr marL="0" indent="0">
              <a:buNone/>
            </a:pPr>
            <a:r>
              <a:rPr lang="en-US" altLang="en-US"/>
              <a:t>VI. Message Routing &amp; Delivery Module</a:t>
            </a:r>
            <a:endParaRPr lang="en-US" altLang="en-US"/>
          </a:p>
          <a:p>
            <a:pPr marL="0" indent="0">
              <a:buNone/>
            </a:pPr>
            <a:r>
              <a:rPr lang="en-US" altLang="en-US"/>
              <a:t>➢ Routes messages to correct clients </a:t>
            </a:r>
            <a:endParaRPr lang="en-US" altLang="en-US"/>
          </a:p>
          <a:p>
            <a:pPr marL="0" indent="0">
              <a:buNone/>
            </a:pPr>
            <a:r>
              <a:rPr lang="en-US" altLang="en-US"/>
              <a:t>➢ Handles unavailable users gracefully</a:t>
            </a:r>
            <a:endParaRPr lang="en-US" altLang="en-US"/>
          </a:p>
          <a:p>
            <a:pPr marL="0" indent="0">
              <a:buNone/>
            </a:pPr>
            <a:r>
              <a:rPr lang="en-US" altLang="en-US"/>
              <a:t>➢ Ensures accurate message delivery</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b="1">
                <a:sym typeface="+mn-ea"/>
              </a:rPr>
              <a:t>		         </a:t>
            </a:r>
            <a:r>
              <a:rPr lang="en-US" b="1">
                <a:latin typeface="Times New Roman" panose="02020603050405020304" pitchFamily="18" charset="0"/>
                <a:cs typeface="Times New Roman" panose="02020603050405020304" pitchFamily="18" charset="0"/>
                <a:sym typeface="+mn-ea"/>
              </a:rPr>
              <a:t>MODULE LIST</a:t>
            </a:r>
            <a:endParaRPr lang="en-US">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52095" y="1825625"/>
            <a:ext cx="11101705" cy="4351655"/>
          </a:xfrm>
        </p:spPr>
        <p:txBody>
          <a:bodyPr/>
          <a:p>
            <a:r>
              <a:rPr lang="en-US" altLang="en-US"/>
              <a:t>IX. Multithreading &amp; Asynchronous Communication Module</a:t>
            </a:r>
            <a:endParaRPr lang="en-US" altLang="en-US"/>
          </a:p>
          <a:p>
            <a:pPr marL="0" indent="0">
              <a:buNone/>
            </a:pPr>
            <a:r>
              <a:rPr lang="en-US" altLang="en-US"/>
              <a:t>➢ Supports multiple simultaneous clients</a:t>
            </a:r>
            <a:endParaRPr lang="en-US" altLang="en-US"/>
          </a:p>
          <a:p>
            <a:pPr marL="0" indent="0">
              <a:buNone/>
            </a:pPr>
            <a:r>
              <a:rPr lang="en-US" altLang="en-US"/>
              <a:t>➢ Enables background message reception</a:t>
            </a:r>
            <a:endParaRPr lang="en-US" altLang="en-US"/>
          </a:p>
          <a:p>
            <a:pPr marL="0" indent="0">
              <a:buNone/>
            </a:pPr>
            <a:r>
              <a:rPr lang="en-US" altLang="en-US"/>
              <a:t>➢ Prevents GUI freezing</a:t>
            </a:r>
            <a:endParaRPr lang="en-US" altLang="en-US"/>
          </a:p>
          <a:p>
            <a:pPr marL="0" indent="0">
              <a:buNone/>
            </a:pPr>
            <a:r>
              <a:rPr lang="en-US" altLang="en-US"/>
              <a:t>X. Server Session Management Module</a:t>
            </a:r>
            <a:endParaRPr lang="en-US" altLang="en-US"/>
          </a:p>
          <a:p>
            <a:pPr marL="0" indent="0">
              <a:buNone/>
            </a:pPr>
            <a:r>
              <a:rPr lang="en-US" altLang="en-US"/>
              <a:t>➢ Maintains session-channel mapping</a:t>
            </a:r>
            <a:endParaRPr lang="en-US" altLang="en-US"/>
          </a:p>
          <a:p>
            <a:pPr marL="0" indent="0">
              <a:buNone/>
            </a:pPr>
            <a:r>
              <a:rPr lang="en-US" altLang="en-US"/>
              <a:t>➢ Handles client join and disconnect events</a:t>
            </a:r>
            <a:endParaRPr lang="en-US" altLang="en-US"/>
          </a:p>
          <a:p>
            <a:pPr marL="0" indent="0">
              <a:buNone/>
            </a:pPr>
            <a:r>
              <a:rPr lang="en-US" altLang="en-US"/>
              <a:t>➢ Ensures session consistency</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b="1">
                <a:sym typeface="+mn-ea"/>
              </a:rPr>
              <a:t>			      </a:t>
            </a:r>
            <a:r>
              <a:rPr lang="en-US" b="1">
                <a:latin typeface="Times New Roman" panose="02020603050405020304" pitchFamily="18" charset="0"/>
                <a:cs typeface="Times New Roman" panose="02020603050405020304" pitchFamily="18" charset="0"/>
                <a:sym typeface="+mn-ea"/>
              </a:rPr>
              <a:t>MODULE LIST</a:t>
            </a:r>
            <a:endParaRPr lang="en-US">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252730" y="1825625"/>
            <a:ext cx="11101070" cy="4351655"/>
          </a:xfrm>
        </p:spPr>
        <p:txBody>
          <a:bodyPr>
            <a:normAutofit lnSpcReduction="10000"/>
          </a:bodyPr>
          <a:p>
            <a:pPr marL="0" indent="0">
              <a:buNone/>
            </a:pPr>
            <a:r>
              <a:rPr lang="en-US" altLang="en-US"/>
              <a:t>XI. Error Handling &amp; System Notification Module</a:t>
            </a:r>
            <a:endParaRPr lang="en-US" altLang="en-US"/>
          </a:p>
          <a:p>
            <a:pPr marL="0" indent="0">
              <a:buNone/>
            </a:pPr>
            <a:r>
              <a:rPr lang="en-US" altLang="en-US"/>
              <a:t>  ➢ Handles connection and authentication errors</a:t>
            </a:r>
            <a:endParaRPr lang="en-US" altLang="en-US"/>
          </a:p>
          <a:p>
            <a:pPr marL="0" indent="0">
              <a:buNone/>
            </a:pPr>
            <a:r>
              <a:rPr lang="en-US" altLang="en-US"/>
              <a:t>  ➢ Detects encryption/decryption failures</a:t>
            </a:r>
            <a:endParaRPr lang="en-US" altLang="en-US"/>
          </a:p>
          <a:p>
            <a:pPr marL="0" indent="0">
              <a:buNone/>
            </a:pPr>
            <a:r>
              <a:rPr lang="en-US" altLang="en-US"/>
              <a:t>  ➢ Displays system notifications</a:t>
            </a:r>
            <a:endParaRPr lang="en-US" altLang="en-US"/>
          </a:p>
          <a:p>
            <a:pPr marL="0" indent="0">
              <a:buNone/>
            </a:pPr>
            <a:r>
              <a:rPr lang="en-US" altLang="en-US"/>
              <a:t>XII. Resource Cleanup &amp; Secure Session Termination Module </a:t>
            </a:r>
            <a:endParaRPr lang="en-US" altLang="en-US"/>
          </a:p>
          <a:p>
            <a:pPr marL="0" indent="0">
              <a:buNone/>
            </a:pPr>
            <a:r>
              <a:rPr lang="en-US" altLang="en-US"/>
              <a:t>  ➢ Closes SSH channels securely</a:t>
            </a:r>
            <a:endParaRPr lang="en-US" altLang="en-US"/>
          </a:p>
          <a:p>
            <a:pPr marL="0" indent="0">
              <a:buNone/>
            </a:pPr>
            <a:r>
              <a:rPr lang="en-US" altLang="en-US"/>
              <a:t>  ➢ Clears cryptographic keys from memory</a:t>
            </a:r>
            <a:endParaRPr lang="en-US" altLang="en-US"/>
          </a:p>
          <a:p>
            <a:pPr marL="0" indent="0">
              <a:buNone/>
            </a:pPr>
            <a:r>
              <a:rPr lang="en-US" altLang="en-US"/>
              <a:t>  ➢ Terminates threads safely</a:t>
            </a:r>
            <a:endParaRPr lang="en-US" altLang="en-US"/>
          </a:p>
          <a:p>
            <a:pPr marL="0" indent="0">
              <a:buNone/>
            </a:pPr>
            <a:r>
              <a:rPr lang="en-US" altLang="en-US"/>
              <a:t>  ➢ Ensures graceful shutdown</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pPr algn="ctr"/>
            <a:r>
              <a:rPr lang="en-US" altLang="en-US" b="1" dirty="0">
                <a:solidFill>
                  <a:srgbClr val="000000"/>
                </a:solidFill>
                <a:latin typeface="Times New Roman" panose="02020603050405020304" pitchFamily="18" charset="0"/>
                <a:cs typeface="Times New Roman" panose="02020603050405020304" pitchFamily="18" charset="0"/>
                <a:sym typeface="+mn-ea"/>
              </a:rPr>
              <a:t>SYSTEM REQUIREMENTS</a:t>
            </a:r>
            <a:endParaRPr lang="en-US"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252730" y="1825625"/>
            <a:ext cx="11785600" cy="4886960"/>
          </a:xfrm>
        </p:spPr>
        <p:txBody>
          <a:bodyPr>
            <a:noAutofit/>
          </a:bodyPr>
          <a:p>
            <a:r>
              <a:rPr lang="en-IN" sz="2500" b="1" dirty="0">
                <a:latin typeface="Times New Roman" panose="02020603050405020304" pitchFamily="18" charset="0"/>
                <a:cs typeface="Times New Roman" panose="02020603050405020304" pitchFamily="18" charset="0"/>
                <a:sym typeface="+mn-ea"/>
              </a:rPr>
              <a:t>HARDWARE REQUIREMENTS</a:t>
            </a:r>
            <a:endParaRPr lang="en-IN" sz="2500" b="1" dirty="0">
              <a:latin typeface="Times New Roman" panose="02020603050405020304" pitchFamily="18" charset="0"/>
              <a:cs typeface="Times New Roman" panose="02020603050405020304" pitchFamily="18" charset="0"/>
            </a:endParaRPr>
          </a:p>
          <a:p>
            <a:pPr marL="0" indent="0">
              <a:buNone/>
            </a:pPr>
            <a:r>
              <a:rPr lang="en-IN" sz="2500" dirty="0">
                <a:latin typeface="Times New Roman" panose="02020603050405020304" pitchFamily="18" charset="0"/>
                <a:cs typeface="Times New Roman" panose="02020603050405020304" pitchFamily="18" charset="0"/>
                <a:sym typeface="+mn-ea"/>
              </a:rPr>
              <a:t>• Processor: Intel i3 / i5 or equivalent</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RAM: Minimum 4 GB (8 GB recommended)</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Storage: Minimum 20 GB free space</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System Type: 64-bit machine</a:t>
            </a:r>
            <a:endParaRPr lang="en-IN" sz="2500" dirty="0">
              <a:latin typeface="Times New Roman" panose="02020603050405020304" pitchFamily="18" charset="0"/>
              <a:cs typeface="Times New Roman" panose="02020603050405020304" pitchFamily="18" charset="0"/>
            </a:endParaRPr>
          </a:p>
          <a:p>
            <a:pPr marL="0" indent="0">
              <a:buNone/>
            </a:pPr>
            <a:endParaRPr lang="en-IN" sz="2500" dirty="0">
              <a:latin typeface="Times New Roman" panose="02020603050405020304" pitchFamily="18" charset="0"/>
              <a:cs typeface="Times New Roman" panose="02020603050405020304" pitchFamily="18" charset="0"/>
            </a:endParaRPr>
          </a:p>
          <a:p>
            <a:r>
              <a:rPr lang="en-IN" sz="2500" b="1" dirty="0">
                <a:latin typeface="Times New Roman" panose="02020603050405020304" pitchFamily="18" charset="0"/>
                <a:cs typeface="Times New Roman" panose="02020603050405020304" pitchFamily="18" charset="0"/>
                <a:sym typeface="+mn-ea"/>
              </a:rPr>
              <a:t>SOFTWARE REQUIREMENTS</a:t>
            </a:r>
            <a:endParaRPr lang="en-IN" sz="2500" b="1" dirty="0">
              <a:latin typeface="Times New Roman" panose="02020603050405020304" pitchFamily="18" charset="0"/>
              <a:cs typeface="Times New Roman" panose="02020603050405020304" pitchFamily="18" charset="0"/>
            </a:endParaRPr>
          </a:p>
          <a:p>
            <a:pPr marL="0" indent="0">
              <a:buNone/>
            </a:pPr>
            <a:r>
              <a:rPr lang="en-IN" sz="2500" dirty="0">
                <a:latin typeface="Times New Roman" panose="02020603050405020304" pitchFamily="18" charset="0"/>
                <a:cs typeface="Times New Roman" panose="02020603050405020304" pitchFamily="18" charset="0"/>
                <a:sym typeface="+mn-ea"/>
              </a:rPr>
              <a:t>• Operating System: Windows 10 / 11, Linux, or macOS</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Programming Languages: Python (3.x)</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Development Environment: VS Code </a:t>
            </a:r>
            <a:r>
              <a:rPr lang="en-US" altLang="en-IN" sz="2500" dirty="0">
                <a:latin typeface="Times New Roman" panose="02020603050405020304" pitchFamily="18" charset="0"/>
                <a:cs typeface="Times New Roman" panose="02020603050405020304" pitchFamily="18" charset="0"/>
                <a:sym typeface="+mn-ea"/>
              </a:rPr>
              <a:t>,any IDE</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a:t>
            </a:r>
            <a:r>
              <a:rPr lang="en-US" altLang="en-IN" sz="2500" dirty="0">
                <a:latin typeface="Times New Roman" panose="02020603050405020304" pitchFamily="18" charset="0"/>
                <a:cs typeface="Times New Roman" panose="02020603050405020304" pitchFamily="18" charset="0"/>
                <a:sym typeface="+mn-ea"/>
              </a:rPr>
              <a:t>Library:Tkinter</a:t>
            </a:r>
            <a:br>
              <a:rPr lang="en-IN" sz="2500" dirty="0">
                <a:latin typeface="Times New Roman" panose="02020603050405020304" pitchFamily="18" charset="0"/>
                <a:cs typeface="Times New Roman" panose="02020603050405020304" pitchFamily="18" charset="0"/>
                <a:sym typeface="+mn-ea"/>
              </a:rPr>
            </a:br>
            <a:r>
              <a:rPr lang="en-IN" sz="2500" dirty="0">
                <a:latin typeface="Times New Roman" panose="02020603050405020304" pitchFamily="18" charset="0"/>
                <a:cs typeface="Times New Roman" panose="02020603050405020304" pitchFamily="18" charset="0"/>
                <a:sym typeface="+mn-ea"/>
              </a:rPr>
              <a:t>• </a:t>
            </a:r>
            <a:r>
              <a:rPr lang="en-US" altLang="en-IN" sz="2500" dirty="0">
                <a:latin typeface="Times New Roman" panose="02020603050405020304" pitchFamily="18" charset="0"/>
                <a:cs typeface="Times New Roman" panose="02020603050405020304" pitchFamily="18" charset="0"/>
                <a:sym typeface="+mn-ea"/>
              </a:rPr>
              <a:t>Modules:hashlib</a:t>
            </a:r>
            <a:endParaRPr lang="en-US" altLang="en-IN" sz="2500" dirty="0">
              <a:latin typeface="Times New Roman" panose="02020603050405020304" pitchFamily="18" charset="0"/>
              <a:cs typeface="Times New Roman" panose="02020603050405020304" pitchFamily="18" charset="0"/>
              <a:sym typeface="+mn-ea"/>
            </a:endParaRPr>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252730" y="365125"/>
            <a:ext cx="1152525" cy="1140460"/>
          </a:xfrm>
          <a:prstGeom prst="rect">
            <a:avLst/>
          </a:prstGeom>
          <a:noFill/>
          <a:ln w="9525">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  			     </a:t>
            </a:r>
            <a:r>
              <a:rPr lang="en-US" sz="5000" b="1">
                <a:latin typeface="Times New Roman" panose="02020603050405020304" pitchFamily="18" charset="0"/>
                <a:cs typeface="Times New Roman" panose="02020603050405020304" pitchFamily="18" charset="0"/>
              </a:rPr>
              <a:t>CONCLUSION</a:t>
            </a:r>
            <a:endParaRPr lang="en-US" sz="5000" b="1">
              <a:latin typeface="Times New Roman" panose="02020603050405020304" pitchFamily="18" charset="0"/>
              <a:cs typeface="Times New Roman" panose="02020603050405020304" pitchFamily="18" charset="0"/>
            </a:endParaRPr>
          </a:p>
        </p:txBody>
      </p:sp>
      <p:sp>
        <p:nvSpPr>
          <p:cNvPr id="5" name="Content Placeholder 4"/>
          <p:cNvSpPr>
            <a:spLocks noGrp="1"/>
          </p:cNvSpPr>
          <p:nvPr>
            <p:ph idx="1"/>
          </p:nvPr>
        </p:nvSpPr>
        <p:spPr>
          <a:xfrm>
            <a:off x="0" y="1825625"/>
            <a:ext cx="11353800" cy="4351655"/>
          </a:xfrm>
        </p:spPr>
        <p:txBody>
          <a:bodyPr>
            <a:normAutofit fontScale="90000" lnSpcReduction="10000"/>
          </a:bodyPr>
          <a:p>
            <a:r>
              <a:rPr lang="en-US" altLang="en-US"/>
              <a:t>The project successfully demonstrates a secure network messenger using SSH to protect communication over untrusted networks.</a:t>
            </a:r>
            <a:endParaRPr lang="en-US" altLang="en-US"/>
          </a:p>
          <a:p>
            <a:endParaRPr lang="en-US" altLang="en-US"/>
          </a:p>
          <a:p>
            <a:r>
              <a:rPr lang="en-US" altLang="en-US"/>
              <a:t>By integrating RSA for key exchange and AES-256 for message encryption, the system ensures strong confidentiality and data integrity.</a:t>
            </a:r>
            <a:endParaRPr lang="en-US" altLang="en-US"/>
          </a:p>
          <a:p>
            <a:endParaRPr lang="en-US" altLang="en-US"/>
          </a:p>
          <a:p>
            <a:r>
              <a:rPr lang="en-US" altLang="en-US"/>
              <a:t>The use of layered security improves user anonymity and reduces the risk of interception and unauthorized access.</a:t>
            </a:r>
            <a:endParaRPr lang="en-US" altLang="en-US"/>
          </a:p>
          <a:p>
            <a:endParaRPr lang="en-US" altLang="en-US"/>
          </a:p>
          <a:p>
            <a:r>
              <a:rPr lang="en-US" altLang="en-US"/>
              <a:t>The proposed system provides a reliable foundation for secure, real-time communication and can be extended for advanced security features in the future.</a:t>
            </a:r>
            <a:endParaRPr lang="en-US" altLang="en-US"/>
          </a:p>
        </p:txBody>
      </p:sp>
      <p:pic>
        <p:nvPicPr>
          <p:cNvPr id="7" name="Picture 8"/>
          <p:cNvPicPr>
            <a:picLocks noChangeAspect="1"/>
          </p:cNvPicPr>
          <p:nvPr/>
        </p:nvPicPr>
        <p:blipFill>
          <a:blip r:embed="rId1">
            <a:lum contrast="20000"/>
          </a:blip>
          <a:stretch>
            <a:fillRect/>
          </a:stretch>
        </p:blipFill>
        <p:spPr>
          <a:xfrm>
            <a:off x="11024870" y="281940"/>
            <a:ext cx="1076325" cy="1189038"/>
          </a:xfrm>
          <a:prstGeom prst="rect">
            <a:avLst/>
          </a:prstGeom>
          <a:solidFill>
            <a:srgbClr val="002060"/>
          </a:solidFill>
          <a:ln w="9525">
            <a:noFill/>
          </a:ln>
        </p:spPr>
      </p:pic>
      <p:pic>
        <p:nvPicPr>
          <p:cNvPr id="11" name="Picture 4"/>
          <p:cNvPicPr>
            <a:picLocks noChangeAspect="1"/>
          </p:cNvPicPr>
          <p:nvPr/>
        </p:nvPicPr>
        <p:blipFill>
          <a:blip r:embed="rId2"/>
          <a:stretch>
            <a:fillRect/>
          </a:stretch>
        </p:blipFill>
        <p:spPr>
          <a:xfrm>
            <a:off x="372110" y="457835"/>
            <a:ext cx="1152525" cy="1140460"/>
          </a:xfrm>
          <a:prstGeom prst="rect">
            <a:avLst/>
          </a:prstGeom>
          <a:noFill/>
          <a:ln w="9525">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a:xfrm>
            <a:off x="831850" y="1710055"/>
            <a:ext cx="10515600" cy="2267585"/>
          </a:xfrm>
        </p:spPr>
        <p:txBody>
          <a:bodyPr/>
          <a:p>
            <a:r>
              <a:rPr lang="en-US" sz="12000">
                <a:latin typeface="Times New Roman" panose="02020603050405020304" pitchFamily="18" charset="0"/>
                <a:cs typeface="Times New Roman" panose="02020603050405020304" pitchFamily="18" charset="0"/>
              </a:rPr>
              <a:t>   THANK YOU</a:t>
            </a:r>
            <a:endParaRPr lang="en-US" sz="12000">
              <a:latin typeface="Times New Roman" panose="02020603050405020304" pitchFamily="18" charset="0"/>
              <a:cs typeface="Times New Roman" panose="02020603050405020304" pitchFamily="18" charset="0"/>
            </a:endParaRPr>
          </a:p>
        </p:txBody>
      </p:sp>
      <p:sp>
        <p:nvSpPr>
          <p:cNvPr id="5" name="Text Placeholder 4"/>
          <p:cNvSpPr>
            <a:spLocks noGrp="1"/>
          </p:cNvSpPr>
          <p:nvPr>
            <p:ph type="body" idx="1"/>
          </p:nvPr>
        </p:nvSpPr>
        <p:spPr/>
        <p:txBody>
          <a:bodyPr/>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8587</Words>
  <Application>WPS Presentation</Application>
  <PresentationFormat>Widescreen</PresentationFormat>
  <Paragraphs>167</Paragraphs>
  <Slides>18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18</vt:i4>
      </vt:variant>
    </vt:vector>
  </HeadingPairs>
  <TitlesOfParts>
    <vt:vector size="28" baseType="lpstr">
      <vt:lpstr>Arial</vt:lpstr>
      <vt:lpstr>SimSun</vt:lpstr>
      <vt:lpstr>Wingdings</vt:lpstr>
      <vt:lpstr>Times New Roman</vt:lpstr>
      <vt:lpstr>Sans Serif Collection</vt:lpstr>
      <vt:lpstr>Calibri Light</vt:lpstr>
      <vt:lpstr>Calibri</vt:lpstr>
      <vt:lpstr>Microsoft YaHei</vt:lpstr>
      <vt:lpstr>Arial Unicode MS</vt:lpstr>
      <vt:lpstr>Office Theme</vt:lpstr>
      <vt:lpstr>Secure Network Messenger Using ssh for Improved Anonymity Project Review-1 </vt:lpstr>
      <vt:lpstr>                      Content Outline</vt:lpstr>
      <vt:lpstr>				ABSTRACT</vt:lpstr>
      <vt:lpstr>                         INTRODUCTION</vt:lpstr>
      <vt:lpstr>                 LITERATURE REVIEW  A Comprehensive End-to-End Solution for Web Security with  Cryptography,Multi-Factor Authentication, and Secure Communication Kanderi Johith Kumar,Kandlapalli Aravind Sai,Adapala Dharshan Reddy,Chithamreddy Pranay Diwik Reddy,Shinu M Rajagoapala </vt:lpstr>
      <vt:lpstr>                LITERATURE REVIEW</vt:lpstr>
      <vt:lpstr>		    LITERATURE REVIEW</vt:lpstr>
      <vt:lpstr>                LITERATURE REVIEW</vt:lpstr>
      <vt:lpstr>                    LITERATURE REVIEW</vt:lpstr>
      <vt:lpstr>                    MODULE LIST</vt:lpstr>
      <vt:lpstr>                    MODULE LIST</vt:lpstr>
      <vt:lpstr>                    MODULE LIST</vt:lpstr>
      <vt:lpstr>                    MODULE LIST</vt:lpstr>
      <vt:lpstr>		         MODULE LIST</vt:lpstr>
      <vt:lpstr>			      MODULE LIST</vt:lpstr>
      <vt:lpstr>SYSTEM REQUIREMENTS</vt:lpstr>
      <vt:lpstr>  			     CONCLUSION</vt:lpstr>
      <vt:lpstr>   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Aloysius Rosario</cp:lastModifiedBy>
  <cp:revision>18</cp:revision>
  <dcterms:created xsi:type="dcterms:W3CDTF">2025-07-23T00:59:00Z</dcterms:created>
  <dcterms:modified xsi:type="dcterms:W3CDTF">2026-01-29T07:51:22Z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52E51265492043E69A8B529770AAD0BA_13</vt:lpwstr>
  </property>
  <property fmtid="{D5CDD505-2E9C-101B-9397-08002B2CF9AE}" pid="3" name="KSOProductBuildVer">
    <vt:lpwstr>1033-12.2.0.23196</vt:lpwstr>
  </property>
</Properties>
</file>